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 snapToObjects="1">
      <p:cViewPr varScale="1">
        <p:scale>
          <a:sx n="117" d="100"/>
          <a:sy n="117" d="100"/>
        </p:scale>
        <p:origin x="288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754880" y="1645920"/>
            <a:ext cx="265176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192024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600" b="1">
                <a:solidFill>
                  <a:srgbClr val="FFFFFF"/>
                </a:solidFill>
                <a:latin typeface="Calibri"/>
              </a:rPr>
              <a:t>Explainable Heart Disease Prediction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3600" b="1">
                <a:solidFill>
                  <a:srgbClr val="93C5FD"/>
                </a:solidFill>
                <a:latin typeface="Calibri"/>
              </a:rPr>
              <a:t>Using CNN-LSTM-Attention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3291840"/>
            <a:ext cx="7589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7EB8FF"/>
                </a:solidFill>
                <a:latin typeface="Calibri"/>
              </a:rPr>
              <a:t>A Multi-Technique XAI Framework using Attention, Grad-CAM, SHAP and LIME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4023360"/>
            <a:ext cx="3931920" cy="254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286000" y="4480560"/>
            <a:ext cx="75895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Dhruv Singla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Srishti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389120" y="1097280"/>
            <a:ext cx="3291840" cy="347472"/>
          </a:xfrm>
          <a:prstGeom prst="roundRect">
            <a:avLst/>
          </a:prstGeom>
          <a:solidFill>
            <a:srgbClr val="0A2035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93C5FD"/>
                </a:solidFill>
                <a:latin typeface="Calibri"/>
              </a:rPr>
              <a:t>SOFTWARE ENGINEERING — PROJECT PROPOSAL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0080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B7FA3"/>
                </a:solidFill>
                <a:latin typeface="Calibri"/>
              </a:rPr>
              <a:t>1 / 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411480"/>
            <a:ext cx="411480" cy="41148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32004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Introduction &amp; Motivation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68680"/>
            <a:ext cx="10515600" cy="254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820095" y="640080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B7FA3"/>
                </a:solidFill>
                <a:latin typeface="Calibri"/>
              </a:rPr>
              <a:t>2 /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5EEAD4"/>
                </a:solidFill>
                <a:latin typeface="Calibri"/>
              </a:rPr>
              <a:t>🫀  The Healthcare Challenge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C0CFE0"/>
                </a:solidFill>
                <a:latin typeface="Calibri"/>
              </a:rPr>
              <a:t>•  Cardiovascular disease is the leading cause of death globally — 17.9 million deaths/year (WHO)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C0CFE0"/>
                </a:solidFill>
                <a:latin typeface="Calibri"/>
              </a:rPr>
              <a:t>•  Early detection can significantly reduce mortality rates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C0CFE0"/>
                </a:solidFill>
                <a:latin typeface="Calibri"/>
              </a:rPr>
              <a:t>•  Traditional diagnosis requires expensive imaging and expert cardiologists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C0CFE0"/>
                </a:solidFill>
                <a:latin typeface="Calibri"/>
              </a:rPr>
              <a:t>•  Machine Learning &amp; Deep Learning can assist in risk prediction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endParaRPr sz="1200" b="0">
              <a:solidFill>
                <a:srgbClr val="C0CFE0"/>
              </a:solidFill>
              <a:latin typeface="Calibri"/>
            </a:endParaRPr>
          </a:p>
          <a:p>
            <a:pPr algn="l">
              <a:spcBef>
                <a:spcPts val="800"/>
              </a:spcBef>
              <a:spcAft>
                <a:spcPts val="600"/>
              </a:spcAft>
            </a:pPr>
            <a:r>
              <a:rPr sz="1600" b="1">
                <a:solidFill>
                  <a:srgbClr val="FBBF24"/>
                </a:solidFill>
                <a:latin typeface="Calibri"/>
              </a:rPr>
              <a:t>⚠️  The Black-Box Problem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C0CFE0"/>
                </a:solidFill>
                <a:latin typeface="Calibri"/>
              </a:rPr>
              <a:t>•  Complex AI models behave like black boxes — no explanation for decisions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C0CFE0"/>
                </a:solidFill>
                <a:latin typeface="Calibri"/>
              </a:rPr>
              <a:t>•  A prediction alone does not explain WHY a patient was classified at risk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C0CFE0"/>
                </a:solidFill>
                <a:latin typeface="Calibri"/>
              </a:rPr>
              <a:t>•  Without transparency, clinicians cannot trust or adopt AI tools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C0CFE0"/>
                </a:solidFill>
                <a:latin typeface="Calibri"/>
              </a:rPr>
              <a:t>•  Explainable AI (XAI) can make predictions understandable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188720"/>
            <a:ext cx="5303520" cy="1097280"/>
          </a:xfrm>
          <a:prstGeom prst="roundRect">
            <a:avLst/>
          </a:prstGeom>
          <a:solidFill>
            <a:srgbClr val="1A0E0E"/>
          </a:solidFill>
          <a:ln w="12700">
            <a:solidFill>
              <a:srgbClr val="5C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CA5A5"/>
                </a:solidFill>
                <a:latin typeface="Calibri"/>
              </a:rPr>
              <a:t>❌  Current Approach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C0CFE0"/>
                </a:solidFill>
                <a:latin typeface="Calibri"/>
              </a:rPr>
              <a:t>Patient Data  →  AI Model  →  Prediction Only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C0CFE0"/>
                </a:solidFill>
                <a:latin typeface="Calibri"/>
              </a:rPr>
              <a:t>No explanation of reasoning provided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560320"/>
            <a:ext cx="5303520" cy="1097280"/>
          </a:xfrm>
          <a:prstGeom prst="roundRect">
            <a:avLst/>
          </a:prstGeom>
          <a:solidFill>
            <a:srgbClr val="0A1A18"/>
          </a:solidFill>
          <a:ln w="12700">
            <a:solidFill>
              <a:srgbClr val="145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5EEAD4"/>
                </a:solidFill>
                <a:latin typeface="Calibri"/>
              </a:rPr>
              <a:t>✅  Proposed Approach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C0CFE0"/>
                </a:solidFill>
                <a:latin typeface="Calibri"/>
              </a:rPr>
              <a:t>Patient Data  →  AI Model  →  Prediction + Explanation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C0CFE0"/>
                </a:solidFill>
                <a:latin typeface="Calibri"/>
              </a:rPr>
              <a:t>Transparent reasoning alongside every prediction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4023360"/>
            <a:ext cx="5303520" cy="12801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93C5FD"/>
                </a:solidFill>
                <a:latin typeface="Calibri"/>
              </a:rPr>
              <a:t>Core Idea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Prediction  +  Explanation  +  Transparency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6B7FA3"/>
                </a:solidFill>
                <a:latin typeface="Calibri"/>
              </a:rPr>
              <a:t>We propose to build a system that not only predicts,
but also explains its reasoning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411480"/>
            <a:ext cx="411480" cy="41148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32004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Problem Statement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68680"/>
            <a:ext cx="10515600" cy="254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820095" y="640080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B7FA3"/>
                </a:solidFill>
                <a:latin typeface="Calibri"/>
              </a:rPr>
              <a:t>3 /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C0CFE0"/>
                </a:solidFill>
                <a:latin typeface="Calibri"/>
              </a:rPr>
              <a:t>Existing heart disease prediction approaches may suffer from: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45920"/>
            <a:ext cx="3474720" cy="1051560"/>
          </a:xfrm>
          <a:prstGeom prst="roundRect">
            <a:avLst/>
          </a:prstGeom>
          <a:solidFill>
            <a:srgbClr val="1A0E0E"/>
          </a:solidFill>
          <a:ln w="12700">
            <a:solidFill>
              <a:srgbClr val="5C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CA5A5"/>
                </a:solidFill>
                <a:latin typeface="Calibri"/>
              </a:rPr>
              <a:t>🔒  Black-Box Predictions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C0CFE0"/>
                </a:solidFill>
                <a:latin typeface="Calibri"/>
              </a:rPr>
              <a:t>Models output a risk score without explaining how the decision was made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0" y="1645920"/>
            <a:ext cx="3474720" cy="1051560"/>
          </a:xfrm>
          <a:prstGeom prst="roundRect">
            <a:avLst/>
          </a:prstGeom>
          <a:solidFill>
            <a:srgbClr val="1A0E0E"/>
          </a:solidFill>
          <a:ln w="12700">
            <a:solidFill>
              <a:srgbClr val="5C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CA5A5"/>
                </a:solidFill>
                <a:latin typeface="Calibri"/>
              </a:rPr>
              <a:t>🔍  Limited Interpretability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C0CFE0"/>
                </a:solidFill>
                <a:latin typeface="Calibri"/>
              </a:rPr>
              <a:t>Difficult to understand which clinical features influenced a prediction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1645920"/>
            <a:ext cx="3474720" cy="1051560"/>
          </a:xfrm>
          <a:prstGeom prst="roundRect">
            <a:avLst/>
          </a:prstGeom>
          <a:solidFill>
            <a:srgbClr val="1A0E0E"/>
          </a:solidFill>
          <a:ln w="12700">
            <a:solidFill>
              <a:srgbClr val="5C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CA5A5"/>
                </a:solidFill>
                <a:latin typeface="Calibri"/>
              </a:rPr>
              <a:t>📊  No Visual Reasoning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C0CFE0"/>
                </a:solidFill>
                <a:latin typeface="Calibri"/>
              </a:rPr>
              <a:t>Limited visualization of model reasoning and feature contributions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880360"/>
            <a:ext cx="5394960" cy="1051560"/>
          </a:xfrm>
          <a:prstGeom prst="roundRect">
            <a:avLst/>
          </a:prstGeom>
          <a:solidFill>
            <a:srgbClr val="1A1505"/>
          </a:solidFill>
          <a:ln w="12700">
            <a:solidFill>
              <a:srgbClr val="5C4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BBF24"/>
                </a:solidFill>
                <a:latin typeface="Calibri"/>
              </a:rPr>
              <a:t>👤  Individual Prediction Gap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C0CFE0"/>
                </a:solidFill>
                <a:latin typeface="Calibri"/>
              </a:rPr>
              <a:t>Difficult to explain why a specific patient was classified — global stats are not enough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2880360"/>
            <a:ext cx="5394960" cy="1051560"/>
          </a:xfrm>
          <a:prstGeom prst="roundRect">
            <a:avLst/>
          </a:prstGeom>
          <a:solidFill>
            <a:srgbClr val="1A1505"/>
          </a:solidFill>
          <a:ln w="12700">
            <a:solidFill>
              <a:srgbClr val="5C4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BBF24"/>
                </a:solidFill>
                <a:latin typeface="Calibri"/>
              </a:rPr>
              <a:t>⚙️  Disconnected Systems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C0CFE0"/>
                </a:solidFill>
                <a:latin typeface="Calibri"/>
              </a:rPr>
              <a:t>Prediction and explainability tools are often developed separately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206240"/>
            <a:ext cx="10972800" cy="10058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93C5FD"/>
                </a:solidFill>
                <a:latin typeface="Calibri"/>
              </a:rPr>
              <a:t>Research Question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C0CFE0"/>
                </a:solidFill>
                <a:latin typeface="Calibri"/>
              </a:rPr>
              <a:t>"How can we design a heart disease prediction system that combines deep learning with multiple explainability techniques to provide both a prediction and understandable reasoning behind that prediction?"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411480"/>
            <a:ext cx="411480" cy="41148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32004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Existing Approaches &amp; Research Gap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68680"/>
            <a:ext cx="10515600" cy="254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820095" y="640080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B7FA3"/>
                </a:solidFill>
                <a:latin typeface="Calibri"/>
              </a:rPr>
              <a:t>4 / 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97280"/>
            <a:ext cx="3474720" cy="2194560"/>
          </a:xfrm>
          <a:prstGeom prst="roundRect">
            <a:avLst/>
          </a:prstGeom>
          <a:solidFill>
            <a:srgbClr val="101828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93C5FD"/>
                </a:solidFill>
                <a:latin typeface="Calibri"/>
              </a:rPr>
              <a:t>Traditional Machine Learning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C0CFE0"/>
                </a:solidFill>
                <a:latin typeface="Calibri"/>
              </a:rPr>
              <a:t>• Logistic Regression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C0CFE0"/>
                </a:solidFill>
                <a:latin typeface="Calibri"/>
              </a:rPr>
              <a:t>• Decision Trees &amp; Random Forest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C0CFE0"/>
                </a:solidFill>
                <a:latin typeface="Calibri"/>
              </a:rPr>
              <a:t>• Support Vector Machines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C0CFE0"/>
                </a:solidFill>
                <a:latin typeface="Calibri"/>
              </a:rPr>
              <a:t>• K-Nearest Neighbors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endParaRPr sz="1100" b="0">
              <a:solidFill>
                <a:srgbClr val="C0CFE0"/>
              </a:solidFill>
              <a:latin typeface="Calibri"/>
            </a:endParaRP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C0CFE0"/>
                </a:solidFill>
                <a:latin typeface="Calibri"/>
              </a:rPr>
              <a:t>Interpretable but may have limited capacity for complex feature interactions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097280"/>
            <a:ext cx="3474720" cy="2194560"/>
          </a:xfrm>
          <a:prstGeom prst="roundRect">
            <a:avLst/>
          </a:prstGeom>
          <a:solidFill>
            <a:srgbClr val="0A1A18"/>
          </a:solidFill>
          <a:ln w="12700">
            <a:solidFill>
              <a:srgbClr val="145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5EEAD4"/>
                </a:solidFill>
                <a:latin typeface="Calibri"/>
              </a:rPr>
              <a:t>Deep Learning Approaches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C0CFE0"/>
                </a:solidFill>
                <a:latin typeface="Calibri"/>
              </a:rPr>
              <a:t>• Convolutional Neural Networks (CNN)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C0CFE0"/>
                </a:solidFill>
                <a:latin typeface="Calibri"/>
              </a:rPr>
              <a:t>• Long Short-Term Memory (LSTM)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C0CFE0"/>
                </a:solidFill>
                <a:latin typeface="Calibri"/>
              </a:rPr>
              <a:t>• Hybrid CNN-LSTM architectures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C0CFE0"/>
                </a:solidFill>
                <a:latin typeface="Calibri"/>
              </a:rPr>
              <a:t>• Attention-based models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endParaRPr sz="1100" b="0">
              <a:solidFill>
                <a:srgbClr val="C0CFE0"/>
              </a:solidFill>
              <a:latin typeface="Calibri"/>
            </a:endParaRP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C0CFE0"/>
                </a:solidFill>
                <a:latin typeface="Calibri"/>
              </a:rPr>
              <a:t>Higher capacity but often function as black boxes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097280"/>
            <a:ext cx="3474720" cy="2194560"/>
          </a:xfrm>
          <a:prstGeom prst="roundRect">
            <a:avLst/>
          </a:prstGeom>
          <a:solidFill>
            <a:srgbClr val="140E1E"/>
          </a:solidFill>
          <a:ln w="12700">
            <a:solidFill>
              <a:srgbClr val="4A2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C4B5FD"/>
                </a:solidFill>
                <a:latin typeface="Calibri"/>
              </a:rPr>
              <a:t>Explainable AI Methods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C0CFE0"/>
                </a:solidFill>
                <a:latin typeface="Calibri"/>
              </a:rPr>
              <a:t>• SHAP — Shapley value attribution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C0CFE0"/>
                </a:solidFill>
                <a:latin typeface="Calibri"/>
              </a:rPr>
              <a:t>• LIME — Local interpretable approximations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C0CFE0"/>
                </a:solidFill>
                <a:latin typeface="Calibri"/>
              </a:rPr>
              <a:t>• Grad-CAM — Gradient-based visual explanations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C0CFE0"/>
                </a:solidFill>
                <a:latin typeface="Calibri"/>
              </a:rPr>
              <a:t>• Attention Weights — Internal focus indicators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endParaRPr sz="1100" b="0">
              <a:solidFill>
                <a:srgbClr val="C0CFE0"/>
              </a:solidFill>
              <a:latin typeface="Calibri"/>
            </a:endParaRP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C0CFE0"/>
                </a:solidFill>
                <a:latin typeface="Calibri"/>
              </a:rPr>
              <a:t>Applied individually in existing work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977639"/>
            <a:ext cx="10972800" cy="2011680"/>
          </a:xfrm>
          <a:prstGeom prst="roundRect">
            <a:avLst/>
          </a:prstGeom>
          <a:solidFill>
            <a:srgbClr val="1A1505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spcAft>
                <a:spcPts val="600"/>
              </a:spcAft>
            </a:pPr>
            <a:r>
              <a:rPr sz="1300" b="1" dirty="0">
                <a:solidFill>
                  <a:srgbClr val="FBBF24"/>
                </a:solidFill>
                <a:latin typeface="Calibri"/>
              </a:rPr>
              <a:t>Proposed Research / Software Gap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dirty="0">
                <a:solidFill>
                  <a:srgbClr val="C0CFE0"/>
                </a:solidFill>
                <a:latin typeface="Calibri"/>
              </a:rPr>
              <a:t>This project proposes to explore a unified system combining: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dirty="0">
                <a:solidFill>
                  <a:srgbClr val="C0CFE0"/>
                </a:solidFill>
                <a:latin typeface="Calibri"/>
              </a:rPr>
              <a:t>   • CNN-LSTM-Attention hybrid deep learning architecture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dirty="0">
                <a:solidFill>
                  <a:srgbClr val="C0CFE0"/>
                </a:solidFill>
                <a:latin typeface="Calibri"/>
              </a:rPr>
              <a:t>   • GAF (</a:t>
            </a:r>
            <a:r>
              <a:rPr sz="1200" b="0" dirty="0" err="1">
                <a:solidFill>
                  <a:srgbClr val="C0CFE0"/>
                </a:solidFill>
                <a:latin typeface="Calibri"/>
              </a:rPr>
              <a:t>Gramian</a:t>
            </a:r>
            <a:r>
              <a:rPr sz="1200" b="0" dirty="0">
                <a:solidFill>
                  <a:srgbClr val="C0CFE0"/>
                </a:solidFill>
                <a:latin typeface="Calibri"/>
              </a:rPr>
              <a:t> Angular Field) representation of tabular clinical data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dirty="0">
                <a:solidFill>
                  <a:srgbClr val="C0CFE0"/>
                </a:solidFill>
                <a:latin typeface="Calibri"/>
              </a:rPr>
              <a:t>   • Multiple XAI techniques (Attention + Grad-CAM + SHAP + LIME) in a single framework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dirty="0">
                <a:solidFill>
                  <a:srgbClr val="C0CFE0"/>
                </a:solidFill>
                <a:latin typeface="Calibri"/>
              </a:rPr>
              <a:t>   • Integrated explainable visualization dashboard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endParaRPr sz="1200" b="0" dirty="0">
              <a:solidFill>
                <a:srgbClr val="C0CFE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411480"/>
            <a:ext cx="411480" cy="41148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32004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Project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68680"/>
            <a:ext cx="10515600" cy="254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820095" y="640080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B7FA3"/>
                </a:solidFill>
                <a:latin typeface="Calibri"/>
              </a:rPr>
              <a:t>5 / 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143000"/>
            <a:ext cx="365760" cy="36576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124712"/>
            <a:ext cx="9875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C0CFE0"/>
                </a:solidFill>
                <a:latin typeface="Calibri"/>
              </a:rPr>
              <a:t>Design a heart disease risk prediction system using deep learning that takes clinical patient parameters as input and outputs a risk assessment.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011680"/>
            <a:ext cx="365760" cy="36576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993392"/>
            <a:ext cx="9875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C0CFE0"/>
                </a:solidFill>
                <a:latin typeface="Calibri"/>
              </a:rPr>
              <a:t>Preprocess and transform clinical patient data using appropriate encoding, scaling, class balancing, and explore Gramian Angular Field (GAF) transformation for 2D representation.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880360"/>
            <a:ext cx="365760" cy="36576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862072"/>
            <a:ext cx="9875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C0CFE0"/>
                </a:solidFill>
                <a:latin typeface="Calibri"/>
              </a:rPr>
              <a:t>Explore a CNN-LSTM-Attention architecture combining spatial feature extraction (CNN), sequential relationship modeling (LSTM), and learnable feature emphasis (Attention).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749040"/>
            <a:ext cx="365760" cy="36576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730752"/>
            <a:ext cx="9875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C0CFE0"/>
                </a:solidFill>
                <a:latin typeface="Calibri"/>
              </a:rPr>
              <a:t>Integrate multiple XAI techniques — Attention, Grad-CAM, SHAP, and LIME — to provide complementary explanations for each individual prediction.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617720"/>
            <a:ext cx="365760" cy="36576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4599432"/>
            <a:ext cx="9875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C0CFE0"/>
                </a:solidFill>
                <a:latin typeface="Calibri"/>
              </a:rPr>
              <a:t>Provide understandable explanations for individual predictions by mapping AI-driven feature importance to clinically meaningful interpretations.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486400"/>
            <a:ext cx="365760" cy="36576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5468112"/>
            <a:ext cx="9875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C0CFE0"/>
                </a:solidFill>
                <a:latin typeface="Calibri"/>
              </a:rPr>
              <a:t>Develop a modular software application with a web interface for prediction input, explainability visualization, and report generation.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63093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>
                <a:solidFill>
                  <a:srgbClr val="6B7FA3"/>
                </a:solidFill>
                <a:latin typeface="Calibri"/>
              </a:rPr>
              <a:t>All objectives are stated in planned/future tense — this is a project proposal.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411480"/>
            <a:ext cx="411480" cy="41148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32004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Proposed Solution —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68680"/>
            <a:ext cx="10515600" cy="254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820095" y="640080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B7FA3"/>
                </a:solidFill>
                <a:latin typeface="Calibri"/>
              </a:rPr>
              <a:t>6 / 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1508760"/>
            <a:ext cx="3291840" cy="347472"/>
          </a:xfrm>
          <a:prstGeom prst="roundRect">
            <a:avLst/>
          </a:prstGeom>
          <a:solidFill>
            <a:srgbClr val="0A1A18"/>
          </a:solidFill>
          <a:ln w="12700">
            <a:solidFill>
              <a:srgbClr val="145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5EEAD4"/>
                </a:solidFill>
                <a:latin typeface="Calibri"/>
              </a:rPr>
              <a:t>📋  Input Patient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182880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2563EB"/>
                </a:solidFill>
                <a:latin typeface="Calibri"/>
              </a:rPr>
              <a:t>↓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2075688"/>
            <a:ext cx="3291840" cy="347472"/>
          </a:xfrm>
          <a:prstGeom prst="roundRect">
            <a:avLst/>
          </a:prstGeom>
          <a:solidFill>
            <a:srgbClr val="101C30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93C5FD"/>
                </a:solidFill>
                <a:latin typeface="Calibri"/>
              </a:rPr>
              <a:t>⚙️  Data Preprocessing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2395728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2563EB"/>
                </a:solidFill>
                <a:latin typeface="Calibri"/>
              </a:rPr>
              <a:t>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71600" y="2642616"/>
            <a:ext cx="3291840" cy="347472"/>
          </a:xfrm>
          <a:prstGeom prst="roundRect">
            <a:avLst/>
          </a:prstGeom>
          <a:solidFill>
            <a:srgbClr val="140E1E"/>
          </a:solidFill>
          <a:ln w="12700">
            <a:solidFill>
              <a:srgbClr val="4A2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C4B5FD"/>
                </a:solidFill>
                <a:latin typeface="Calibri"/>
              </a:rPr>
              <a:t>🔲  GAF Transformation (1D → 2D)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2962656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2563EB"/>
                </a:solidFill>
                <a:latin typeface="Calibri"/>
              </a:rPr>
              <a:t>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71600" y="3209544"/>
            <a:ext cx="3291840" cy="347472"/>
          </a:xfrm>
          <a:prstGeom prst="roundRect">
            <a:avLst/>
          </a:prstGeom>
          <a:solidFill>
            <a:srgbClr val="152545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🧠  CNN-LSTM-Attention Model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3529584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2563EB"/>
                </a:solidFill>
                <a:latin typeface="Calibri"/>
              </a:rPr>
              <a:t>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371600" y="3776472"/>
            <a:ext cx="3291840" cy="347472"/>
          </a:xfrm>
          <a:prstGeom prst="roundRect">
            <a:avLst/>
          </a:prstGeom>
          <a:solidFill>
            <a:srgbClr val="1A0E0E"/>
          </a:solidFill>
          <a:ln w="12700">
            <a:solidFill>
              <a:srgbClr val="5C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CA5A5"/>
                </a:solidFill>
                <a:latin typeface="Calibri"/>
              </a:rPr>
              <a:t>🫀  Risk Prediction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40" y="4096512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2563EB"/>
                </a:solidFill>
                <a:latin typeface="Calibri"/>
              </a:rPr>
              <a:t>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71600" y="4343400"/>
            <a:ext cx="3291840" cy="347472"/>
          </a:xfrm>
          <a:prstGeom prst="roundRect">
            <a:avLst/>
          </a:prstGeom>
          <a:solidFill>
            <a:srgbClr val="140E1E"/>
          </a:solidFill>
          <a:ln w="12700">
            <a:solidFill>
              <a:srgbClr val="4A2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C4B5FD"/>
                </a:solidFill>
                <a:latin typeface="Calibri"/>
              </a:rPr>
              <a:t>🔍  XAI Explanation Layer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466344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2563EB"/>
                </a:solidFill>
                <a:latin typeface="Calibri"/>
              </a:rPr>
              <a:t>↓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71600" y="4910328"/>
            <a:ext cx="3291840" cy="347472"/>
          </a:xfrm>
          <a:prstGeom prst="roundRect">
            <a:avLst/>
          </a:prstGeom>
          <a:solidFill>
            <a:srgbClr val="1A1505"/>
          </a:solidFill>
          <a:ln w="12700">
            <a:solidFill>
              <a:srgbClr val="5C4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BBF24"/>
                </a:solidFill>
                <a:latin typeface="Calibri"/>
              </a:rPr>
              <a:t>📊  Explainable Dashboard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11887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7EB8FF"/>
                </a:solidFill>
                <a:latin typeface="Calibri"/>
              </a:rPr>
              <a:t>The proposed system is intended to provide: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0" y="1691640"/>
            <a:ext cx="5486400" cy="914400"/>
          </a:xfrm>
          <a:prstGeom prst="roundRect">
            <a:avLst/>
          </a:prstGeom>
          <a:solidFill>
            <a:srgbClr val="101828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93C5FD"/>
                </a:solidFill>
                <a:latin typeface="Calibri"/>
              </a:rPr>
              <a:t>🎯  Risk Prediction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C0CFE0"/>
                </a:solidFill>
                <a:latin typeface="Calibri"/>
              </a:rPr>
              <a:t>Binary heart disease probability based on clinical features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0" y="2834640"/>
            <a:ext cx="5486400" cy="914400"/>
          </a:xfrm>
          <a:prstGeom prst="roundRect">
            <a:avLst/>
          </a:prstGeom>
          <a:solidFill>
            <a:srgbClr val="101828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C4B5FD"/>
                </a:solidFill>
                <a:latin typeface="Calibri"/>
              </a:rPr>
              <a:t>📊  Feature Importance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C0CFE0"/>
                </a:solidFill>
                <a:latin typeface="Calibri"/>
              </a:rPr>
              <a:t>Which clinical features contributed most to a prediction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0" y="3977640"/>
            <a:ext cx="5486400" cy="914400"/>
          </a:xfrm>
          <a:prstGeom prst="roundRect">
            <a:avLst/>
          </a:prstGeom>
          <a:solidFill>
            <a:srgbClr val="101828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5EEAD4"/>
                </a:solidFill>
                <a:latin typeface="Calibri"/>
              </a:rPr>
              <a:t>🖼️  Visual Explanations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C0CFE0"/>
                </a:solidFill>
                <a:latin typeface="Calibri"/>
              </a:rPr>
              <a:t>Heatmaps, charts, attention maps for visual interpretation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0" y="5120640"/>
            <a:ext cx="5486400" cy="914400"/>
          </a:xfrm>
          <a:prstGeom prst="roundRect">
            <a:avLst/>
          </a:prstGeom>
          <a:solidFill>
            <a:srgbClr val="101828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BBF24"/>
                </a:solidFill>
                <a:latin typeface="Calibri"/>
              </a:rPr>
              <a:t>👤  Individual Interpretation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C0CFE0"/>
                </a:solidFill>
                <a:latin typeface="Calibri"/>
              </a:rPr>
              <a:t>Per-patient explanations, not just global model statistics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411480"/>
            <a:ext cx="411480" cy="41148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32004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Proposed 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68680"/>
            <a:ext cx="10515600" cy="254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820095" y="640080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B7FA3"/>
                </a:solidFill>
                <a:latin typeface="Calibri"/>
              </a:rPr>
              <a:t>7 / 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4754880" cy="347472"/>
          </a:xfrm>
          <a:prstGeom prst="roundRect">
            <a:avLst/>
          </a:prstGeom>
          <a:solidFill>
            <a:srgbClr val="101C30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5EEAD4"/>
                </a:solidFill>
                <a:latin typeface="Calibri"/>
              </a:rPr>
              <a:t>📁  Patient Dataset (UCI Cleveland)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182880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2563EB"/>
                </a:solidFill>
                <a:latin typeface="Calibri"/>
              </a:rPr>
              <a:t>↓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075688"/>
            <a:ext cx="4754880" cy="347472"/>
          </a:xfrm>
          <a:prstGeom prst="roundRect">
            <a:avLst/>
          </a:prstGeom>
          <a:solidFill>
            <a:srgbClr val="101C30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93C5FD"/>
                </a:solidFill>
                <a:latin typeface="Calibri"/>
              </a:rPr>
              <a:t>⚙️  Preprocessing: Impute → Scale → Encode → Balance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2395728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2563EB"/>
                </a:solidFill>
                <a:latin typeface="Calibri"/>
              </a:rPr>
              <a:t>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642616"/>
            <a:ext cx="4754880" cy="347472"/>
          </a:xfrm>
          <a:prstGeom prst="roundRect">
            <a:avLst/>
          </a:prstGeom>
          <a:solidFill>
            <a:srgbClr val="101C30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C4B5FD"/>
                </a:solidFill>
                <a:latin typeface="Calibri"/>
              </a:rPr>
              <a:t>🔲  GAF Transformation (1D → 2D Image)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2962656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2563EB"/>
                </a:solidFill>
                <a:latin typeface="Calibri"/>
              </a:rPr>
              <a:t>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209544"/>
            <a:ext cx="4754880" cy="347472"/>
          </a:xfrm>
          <a:prstGeom prst="roundRect">
            <a:avLst/>
          </a:prstGeom>
          <a:solidFill>
            <a:srgbClr val="101C30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93C5FD"/>
                </a:solidFill>
                <a:latin typeface="Calibri"/>
              </a:rPr>
              <a:t>📸  CNN Feature Extraction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3529584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2563EB"/>
                </a:solidFill>
                <a:latin typeface="Calibri"/>
              </a:rPr>
              <a:t>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776472"/>
            <a:ext cx="4754880" cy="347472"/>
          </a:xfrm>
          <a:prstGeom prst="roundRect">
            <a:avLst/>
          </a:prstGeom>
          <a:solidFill>
            <a:srgbClr val="101C30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93C5FD"/>
                </a:solidFill>
                <a:latin typeface="Calibri"/>
              </a:rPr>
              <a:t>🔄  LSTM Sequential Representation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4096512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2563EB"/>
                </a:solidFill>
                <a:latin typeface="Calibri"/>
              </a:rPr>
              <a:t>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343400"/>
            <a:ext cx="4754880" cy="347472"/>
          </a:xfrm>
          <a:prstGeom prst="roundRect">
            <a:avLst/>
          </a:prstGeom>
          <a:solidFill>
            <a:srgbClr val="152545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🎯  Attention Mechanism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466344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2563EB"/>
                </a:solidFill>
                <a:latin typeface="Calibri"/>
              </a:rPr>
              <a:t>↓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910328"/>
            <a:ext cx="4754880" cy="347472"/>
          </a:xfrm>
          <a:prstGeom prst="roundRect">
            <a:avLst/>
          </a:prstGeom>
          <a:solidFill>
            <a:srgbClr val="101C30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CA5A5"/>
                </a:solidFill>
                <a:latin typeface="Calibri"/>
              </a:rPr>
              <a:t>🫀  Prediction Output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1463040"/>
            <a:ext cx="5029200" cy="2011680"/>
          </a:xfrm>
          <a:prstGeom prst="roundRect">
            <a:avLst/>
          </a:prstGeom>
          <a:solidFill>
            <a:srgbClr val="140E1E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C4B5FD"/>
                </a:solidFill>
                <a:latin typeface="Calibri"/>
              </a:rPr>
              <a:t>Proposed XAI Layer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endParaRPr sz="1300" b="1">
              <a:solidFill>
                <a:srgbClr val="C4B5FD"/>
              </a:solidFill>
              <a:latin typeface="Calibri"/>
            </a:endParaRP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C0CFE0"/>
                </a:solidFill>
                <a:latin typeface="Calibri"/>
              </a:rPr>
              <a:t>  Attention          Grad-CAM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C0CFE0"/>
                </a:solidFill>
                <a:latin typeface="Calibri"/>
              </a:rPr>
              <a:t>  SHAP                 LIME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endParaRPr sz="1200" b="0">
              <a:solidFill>
                <a:srgbClr val="C0CFE0"/>
              </a:solidFill>
              <a:latin typeface="Calibri"/>
            </a:endParaRP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C0CFE0"/>
                </a:solidFill>
                <a:latin typeface="Calibri"/>
              </a:rPr>
              <a:t>Four complementary explanation perspectives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029200" cy="822960"/>
          </a:xfrm>
          <a:prstGeom prst="roundRect">
            <a:avLst/>
          </a:prstGeom>
          <a:solidFill>
            <a:srgbClr val="101828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7EB8FF"/>
                </a:solidFill>
                <a:latin typeface="Calibri"/>
              </a:rPr>
              <a:t>📊  Explainable Dashboard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C0CFE0"/>
                </a:solidFill>
                <a:latin typeface="Calibri"/>
              </a:rPr>
              <a:t>Interactive visualizations, feature importance charts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4754880"/>
            <a:ext cx="5029200" cy="822960"/>
          </a:xfrm>
          <a:prstGeom prst="roundRect">
            <a:avLst/>
          </a:prstGeom>
          <a:solidFill>
            <a:srgbClr val="101828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7EB8FF"/>
                </a:solidFill>
                <a:latin typeface="Calibri"/>
              </a:rPr>
              <a:t>🗄️  MySQL Database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C0CFE0"/>
                </a:solidFill>
                <a:latin typeface="Calibri"/>
              </a:rPr>
              <a:t>Patient records, diagnosis history, longitudinal tracking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5760720"/>
            <a:ext cx="5029200" cy="640080"/>
          </a:xfrm>
          <a:prstGeom prst="roundRect">
            <a:avLst/>
          </a:prstGeom>
          <a:solidFill>
            <a:srgbClr val="101828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7EB8FF"/>
                </a:solidFill>
                <a:latin typeface="Calibri"/>
              </a:rPr>
              <a:t>📄  Clinical PDF Reports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C0CFE0"/>
                </a:solidFill>
                <a:latin typeface="Calibri"/>
              </a:rPr>
              <a:t>Doctor-friendly interpretation reports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411480"/>
            <a:ext cx="411480" cy="41148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32004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Dataset &amp; Data Processing Plan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68680"/>
            <a:ext cx="10515600" cy="254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820095" y="640080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B7FA3"/>
                </a:solidFill>
                <a:latin typeface="Calibri"/>
              </a:rPr>
              <a:t>8 /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7EB8FF"/>
                </a:solidFill>
                <a:latin typeface="Calibri"/>
              </a:rPr>
              <a:t>Proposed Dataset: UCI Cleveland Heart Disease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C0CFE0"/>
                </a:solidFill>
                <a:latin typeface="Calibri"/>
              </a:rPr>
              <a:t>  Source:  UCI Machine Learning Repository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7452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C0CFE0"/>
                </a:solidFill>
                <a:latin typeface="Calibri"/>
              </a:rPr>
              <a:t>  Samples:  ~303 patient records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9456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C0CFE0"/>
                </a:solidFill>
                <a:latin typeface="Calibri"/>
              </a:rPr>
              <a:t>  Features:  13 clinical attributes + 1 target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C0CFE0"/>
                </a:solidFill>
                <a:latin typeface="Calibri"/>
              </a:rPr>
              <a:t>  Target:  Binary (Normal / Heart Disease)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83464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C0CFE0"/>
                </a:solidFill>
                <a:latin typeface="Calibri"/>
              </a:rPr>
              <a:t>  Missing Values:  Some columns may require imputation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29184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7EB8FF"/>
                </a:solidFill>
                <a:latin typeface="Calibri"/>
              </a:rPr>
              <a:t>Key Clinical Features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65760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C0CFE0"/>
                </a:solidFill>
                <a:latin typeface="Calibri"/>
              </a:rPr>
              <a:t>•  age, sex, cp (chest pain), trestbps (blood pressure)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C0CFE0"/>
                </a:solidFill>
                <a:latin typeface="Calibri"/>
              </a:rPr>
              <a:t>•  chol (cholesterol), fbs (fasting blood sugar)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C0CFE0"/>
                </a:solidFill>
                <a:latin typeface="Calibri"/>
              </a:rPr>
              <a:t>•  restecg (resting ECG), thalach (max heart rate)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C0CFE0"/>
                </a:solidFill>
                <a:latin typeface="Calibri"/>
              </a:rPr>
              <a:t>•  exang (exercise angina), oldpeak (ST depression)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C0CFE0"/>
                </a:solidFill>
                <a:latin typeface="Calibri"/>
              </a:rPr>
              <a:t>•  slope (ST slope), ca (vessels), thal (thallium test)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508760"/>
            <a:ext cx="5120640" cy="685800"/>
          </a:xfrm>
          <a:prstGeom prst="roundRect">
            <a:avLst/>
          </a:prstGeom>
          <a:solidFill>
            <a:srgbClr val="101828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7EB8FF"/>
                </a:solidFill>
                <a:latin typeface="Calibri"/>
              </a:rPr>
              <a:t>1. Missing Value Handling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C0CFE0"/>
                </a:solidFill>
                <a:latin typeface="Calibri"/>
              </a:rPr>
              <a:t>Median imputation for invalid entries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313432"/>
            <a:ext cx="5120640" cy="685800"/>
          </a:xfrm>
          <a:prstGeom prst="roundRect">
            <a:avLst/>
          </a:prstGeom>
          <a:solidFill>
            <a:srgbClr val="101828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7EB8FF"/>
                </a:solidFill>
                <a:latin typeface="Calibri"/>
              </a:rPr>
              <a:t>2. Feature Encoding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C0CFE0"/>
                </a:solidFill>
                <a:latin typeface="Calibri"/>
              </a:rPr>
              <a:t>One-hot encoding for categorical variables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118104"/>
            <a:ext cx="5120640" cy="685800"/>
          </a:xfrm>
          <a:prstGeom prst="roundRect">
            <a:avLst/>
          </a:prstGeom>
          <a:solidFill>
            <a:srgbClr val="101828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7EB8FF"/>
                </a:solidFill>
                <a:latin typeface="Calibri"/>
              </a:rPr>
              <a:t>3. Scaling / Normalization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C0CFE0"/>
                </a:solidFill>
                <a:latin typeface="Calibri"/>
              </a:rPr>
              <a:t>Clinical-range-aware physiological scaling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922776"/>
            <a:ext cx="5120640" cy="685800"/>
          </a:xfrm>
          <a:prstGeom prst="roundRect">
            <a:avLst/>
          </a:prstGeom>
          <a:solidFill>
            <a:srgbClr val="101828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7EB8FF"/>
                </a:solidFill>
                <a:latin typeface="Calibri"/>
              </a:rPr>
              <a:t>4. Outlier Analysis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C0CFE0"/>
                </a:solidFill>
                <a:latin typeface="Calibri"/>
              </a:rPr>
              <a:t>IQR-based capping to preserve dataset size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4727448"/>
            <a:ext cx="5120640" cy="685800"/>
          </a:xfrm>
          <a:prstGeom prst="roundRect">
            <a:avLst/>
          </a:prstGeom>
          <a:solidFill>
            <a:srgbClr val="101828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7EB8FF"/>
                </a:solidFill>
                <a:latin typeface="Calibri"/>
              </a:rPr>
              <a:t>5. Class Imbalance Handling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C0CFE0"/>
                </a:solidFill>
                <a:latin typeface="Calibri"/>
              </a:rPr>
              <a:t>SMOTE oversampling on training split only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5532120"/>
            <a:ext cx="5120640" cy="685800"/>
          </a:xfrm>
          <a:prstGeom prst="roundRect">
            <a:avLst/>
          </a:prstGeom>
          <a:solidFill>
            <a:srgbClr val="101828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7EB8FF"/>
                </a:solidFill>
                <a:latin typeface="Calibri"/>
              </a:rPr>
              <a:t>6. Data Splitting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C0CFE0"/>
                </a:solidFill>
                <a:latin typeface="Calibri"/>
              </a:rPr>
              <a:t>Stratified train / validation / test split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411480"/>
            <a:ext cx="411480" cy="41148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32004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Gramian Angular Field (GAF) Transformation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68680"/>
            <a:ext cx="10515600" cy="254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820095" y="640080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B7FA3"/>
                </a:solidFill>
                <a:latin typeface="Calibri"/>
              </a:rPr>
              <a:t>9 /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7EB8FF"/>
                </a:solidFill>
                <a:latin typeface="Calibri"/>
              </a:rPr>
              <a:t>Why Consider GAF?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C0CFE0"/>
                </a:solidFill>
                <a:latin typeface="Calibri"/>
              </a:rPr>
              <a:t>•  Original clinical data is tabular (1D vector)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C0CFE0"/>
                </a:solidFill>
                <a:latin typeface="Calibri"/>
              </a:rPr>
              <a:t>•  CNNs are designed for spatial pattern recognition in 2D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C0CFE0"/>
                </a:solidFill>
                <a:latin typeface="Calibri"/>
              </a:rPr>
              <a:t>•  GAF transforms a feature vector into a 2D matrix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C0CFE0"/>
                </a:solidFill>
                <a:latin typeface="Calibri"/>
              </a:rPr>
              <a:t>•  Encodes pairwise feature angular relationships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C0CFE0"/>
                </a:solidFill>
                <a:latin typeface="Calibri"/>
              </a:rPr>
              <a:t>•  The 2D texture can be explored by CNN-based extraction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38328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7EB8FF"/>
                </a:solidFill>
                <a:latin typeface="Calibri"/>
              </a:rPr>
              <a:t>Transformation Steps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794760"/>
            <a:ext cx="5486400" cy="502920"/>
          </a:xfrm>
          <a:prstGeom prst="roundRect">
            <a:avLst/>
          </a:prstGeom>
          <a:solidFill>
            <a:srgbClr val="101828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93C5FD"/>
                </a:solidFill>
                <a:latin typeface="Calibri"/>
              </a:rPr>
              <a:t>Step 1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C0CFE0"/>
                </a:solidFill>
                <a:latin typeface="Calibri"/>
              </a:rPr>
              <a:t>Scale each feature to [−1, 1] range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389120"/>
            <a:ext cx="5486400" cy="502920"/>
          </a:xfrm>
          <a:prstGeom prst="roundRect">
            <a:avLst/>
          </a:prstGeom>
          <a:solidFill>
            <a:srgbClr val="101828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93C5FD"/>
                </a:solidFill>
                <a:latin typeface="Calibri"/>
              </a:rPr>
              <a:t>Step 2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C0CFE0"/>
                </a:solidFill>
                <a:latin typeface="Calibri"/>
              </a:rPr>
              <a:t>Compute angular representation: φ = arccos(x̃)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983480"/>
            <a:ext cx="5486400" cy="502920"/>
          </a:xfrm>
          <a:prstGeom prst="roundRect">
            <a:avLst/>
          </a:prstGeom>
          <a:solidFill>
            <a:srgbClr val="101828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93C5FD"/>
                </a:solidFill>
                <a:latin typeface="Calibri"/>
              </a:rPr>
              <a:t>Step 3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C0CFE0"/>
                </a:solidFill>
                <a:latin typeface="Calibri"/>
              </a:rPr>
              <a:t>Construct GASF matrix: GASF[i,j] = cos(φᵢ + φⱼ)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0" y="1371600"/>
            <a:ext cx="4114800" cy="347472"/>
          </a:xfrm>
          <a:prstGeom prst="roundRect">
            <a:avLst/>
          </a:prstGeom>
          <a:solidFill>
            <a:srgbClr val="101C30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5EEAD4"/>
                </a:solidFill>
                <a:latin typeface="Calibri"/>
              </a:rPr>
              <a:t>1D Feature Vector  (~22 values)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178308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2563EB"/>
                </a:solidFill>
                <a:latin typeface="Calibri"/>
              </a:rPr>
              <a:t>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0" y="2103120"/>
            <a:ext cx="4114800" cy="347472"/>
          </a:xfrm>
          <a:prstGeom prst="roundRect">
            <a:avLst/>
          </a:prstGeom>
          <a:solidFill>
            <a:srgbClr val="152545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GAF Transformation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51460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2563EB"/>
                </a:solidFill>
                <a:latin typeface="Calibri"/>
              </a:rPr>
              <a:t>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0" y="2834640"/>
            <a:ext cx="4114800" cy="347472"/>
          </a:xfrm>
          <a:prstGeom prst="roundRect">
            <a:avLst/>
          </a:prstGeom>
          <a:solidFill>
            <a:srgbClr val="140E1E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C4B5FD"/>
                </a:solidFill>
                <a:latin typeface="Calibri"/>
              </a:rPr>
              <a:t>2D Matrix  (22 × 22 × 1)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324612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2563EB"/>
                </a:solidFill>
                <a:latin typeface="Calibri"/>
              </a:rPr>
              <a:t>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0" y="3566160"/>
            <a:ext cx="4114800" cy="347472"/>
          </a:xfrm>
          <a:prstGeom prst="roundRect">
            <a:avLst/>
          </a:prstGeom>
          <a:solidFill>
            <a:srgbClr val="101C30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93C5FD"/>
                </a:solidFill>
                <a:latin typeface="Calibri"/>
              </a:rPr>
              <a:t>CNN Feature Extraction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040880" y="4297680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296912" y="4297680"/>
            <a:ext cx="256032" cy="25603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552944" y="4297680"/>
            <a:ext cx="256032" cy="25603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808976" y="4297680"/>
            <a:ext cx="256032" cy="25603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065008" y="4297680"/>
            <a:ext cx="256032" cy="256032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321040" y="4297680"/>
            <a:ext cx="256032" cy="25603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577072" y="4297680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833104" y="4297680"/>
            <a:ext cx="256032" cy="25603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040880" y="4553712"/>
            <a:ext cx="256032" cy="25603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296912" y="4553712"/>
            <a:ext cx="256032" cy="25603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552944" y="4553712"/>
            <a:ext cx="256032" cy="25603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7808976" y="4553712"/>
            <a:ext cx="256032" cy="256032"/>
          </a:xfrm>
          <a:prstGeom prst="rect">
            <a:avLst/>
          </a:prstGeom>
          <a:solidFill>
            <a:srgbClr val="5EE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065008" y="4553712"/>
            <a:ext cx="256032" cy="25603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8321040" y="4553712"/>
            <a:ext cx="256032" cy="25603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8577072" y="4553712"/>
            <a:ext cx="256032" cy="25603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8833104" y="4553712"/>
            <a:ext cx="256032" cy="25603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7040880" y="4809744"/>
            <a:ext cx="256032" cy="25603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7296912" y="4809744"/>
            <a:ext cx="256032" cy="25603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7552944" y="4809744"/>
            <a:ext cx="256032" cy="25603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7808976" y="4809744"/>
            <a:ext cx="256032" cy="25603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8065008" y="4809744"/>
            <a:ext cx="256032" cy="256032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8321040" y="4809744"/>
            <a:ext cx="256032" cy="25603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8577072" y="4809744"/>
            <a:ext cx="256032" cy="25603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8833104" y="4809744"/>
            <a:ext cx="256032" cy="25603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7040880" y="5065776"/>
            <a:ext cx="256032" cy="25603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7296912" y="5065776"/>
            <a:ext cx="256032" cy="256032"/>
          </a:xfrm>
          <a:prstGeom prst="rect">
            <a:avLst/>
          </a:prstGeom>
          <a:solidFill>
            <a:srgbClr val="5EE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7552944" y="5065776"/>
            <a:ext cx="256032" cy="25603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7808976" y="5065776"/>
            <a:ext cx="256032" cy="25603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8065008" y="5065776"/>
            <a:ext cx="256032" cy="256032"/>
          </a:xfrm>
          <a:prstGeom prst="rect">
            <a:avLst/>
          </a:prstGeom>
          <a:solidFill>
            <a:srgbClr val="5EE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8321040" y="5065776"/>
            <a:ext cx="256032" cy="25603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8577072" y="5065776"/>
            <a:ext cx="256032" cy="256032"/>
          </a:xfrm>
          <a:prstGeom prst="rect">
            <a:avLst/>
          </a:prstGeom>
          <a:solidFill>
            <a:srgbClr val="5EE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8833104" y="5065776"/>
            <a:ext cx="256032" cy="25603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7040880" y="5321808"/>
            <a:ext cx="256032" cy="256032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7296912" y="5321808"/>
            <a:ext cx="256032" cy="25603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7552944" y="5321808"/>
            <a:ext cx="256032" cy="256032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7808976" y="5321808"/>
            <a:ext cx="256032" cy="256032"/>
          </a:xfrm>
          <a:prstGeom prst="rect">
            <a:avLst/>
          </a:prstGeom>
          <a:solidFill>
            <a:srgbClr val="5EE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8065008" y="5321808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8321040" y="5321808"/>
            <a:ext cx="256032" cy="256032"/>
          </a:xfrm>
          <a:prstGeom prst="rect">
            <a:avLst/>
          </a:prstGeom>
          <a:solidFill>
            <a:srgbClr val="5EE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8577072" y="5321808"/>
            <a:ext cx="256032" cy="25603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8833104" y="5321808"/>
            <a:ext cx="256032" cy="256032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7040880" y="5577840"/>
            <a:ext cx="256032" cy="25603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7296912" y="5577840"/>
            <a:ext cx="256032" cy="256032"/>
          </a:xfrm>
          <a:prstGeom prst="rect">
            <a:avLst/>
          </a:prstGeom>
          <a:solidFill>
            <a:srgbClr val="5EE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7552944" y="5577840"/>
            <a:ext cx="256032" cy="25603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7808976" y="5577840"/>
            <a:ext cx="256032" cy="25603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8065008" y="5577840"/>
            <a:ext cx="256032" cy="256032"/>
          </a:xfrm>
          <a:prstGeom prst="rect">
            <a:avLst/>
          </a:prstGeom>
          <a:solidFill>
            <a:srgbClr val="5EE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8321040" y="5577840"/>
            <a:ext cx="256032" cy="25603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8577072" y="5577840"/>
            <a:ext cx="256032" cy="256032"/>
          </a:xfrm>
          <a:prstGeom prst="rect">
            <a:avLst/>
          </a:prstGeom>
          <a:solidFill>
            <a:srgbClr val="5EE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8833104" y="5577840"/>
            <a:ext cx="256032" cy="25603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7040880" y="5833872"/>
            <a:ext cx="256032" cy="25603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7296912" y="5833872"/>
            <a:ext cx="256032" cy="25603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7552944" y="5833872"/>
            <a:ext cx="256032" cy="25603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7808976" y="5833872"/>
            <a:ext cx="256032" cy="25603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8065008" y="5833872"/>
            <a:ext cx="256032" cy="256032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ectangle 71"/>
          <p:cNvSpPr/>
          <p:nvPr/>
        </p:nvSpPr>
        <p:spPr>
          <a:xfrm>
            <a:off x="8321040" y="5833872"/>
            <a:ext cx="256032" cy="25603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8577072" y="5833872"/>
            <a:ext cx="256032" cy="25603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8833104" y="5833872"/>
            <a:ext cx="256032" cy="25603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7040880" y="6089904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7296912" y="6089904"/>
            <a:ext cx="256032" cy="25603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7552944" y="6089904"/>
            <a:ext cx="256032" cy="25603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ectangle 77"/>
          <p:cNvSpPr/>
          <p:nvPr/>
        </p:nvSpPr>
        <p:spPr>
          <a:xfrm>
            <a:off x="7808976" y="6089904"/>
            <a:ext cx="256032" cy="25603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ectangle 78"/>
          <p:cNvSpPr/>
          <p:nvPr/>
        </p:nvSpPr>
        <p:spPr>
          <a:xfrm>
            <a:off x="8065008" y="6089904"/>
            <a:ext cx="256032" cy="256032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ectangle 79"/>
          <p:cNvSpPr/>
          <p:nvPr/>
        </p:nvSpPr>
        <p:spPr>
          <a:xfrm>
            <a:off x="8321040" y="6089904"/>
            <a:ext cx="256032" cy="25603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ectangle 80"/>
          <p:cNvSpPr/>
          <p:nvPr/>
        </p:nvSpPr>
        <p:spPr>
          <a:xfrm>
            <a:off x="8577072" y="6089904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8833104" y="6089904"/>
            <a:ext cx="256032" cy="25603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6583680" y="585216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>
                <a:solidFill>
                  <a:srgbClr val="6B7FA3"/>
                </a:solidFill>
                <a:latin typeface="Calibri"/>
              </a:rPr>
              <a:t>Conceptual GAF Heatmap Illustration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548640" y="5760720"/>
            <a:ext cx="10972800" cy="5943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C0CFE0"/>
                </a:solidFill>
                <a:latin typeface="Calibri"/>
              </a:rPr>
              <a:t>The project will evaluate whether GAF-based representation improves the learning of feature interactions compared to raw tabular input.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411480"/>
            <a:ext cx="411480" cy="41148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32004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Proposed CNN-LSTM-Attention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68680"/>
            <a:ext cx="10515600" cy="254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820095" y="640080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B7FA3"/>
                </a:solidFill>
                <a:latin typeface="Calibri"/>
              </a:rPr>
              <a:t>10 / 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3657600" cy="347472"/>
          </a:xfrm>
          <a:prstGeom prst="roundRect">
            <a:avLst/>
          </a:prstGeom>
          <a:solidFill>
            <a:srgbClr val="0A1A18"/>
          </a:solidFill>
          <a:ln w="12700">
            <a:solidFill>
              <a:srgbClr val="145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5EEAD4"/>
                </a:solidFill>
                <a:latin typeface="Calibri"/>
              </a:rPr>
              <a:t>Input: GAF Representation (2D)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173736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2563EB"/>
                </a:solidFill>
                <a:latin typeface="Calibri"/>
              </a:rPr>
              <a:t>↓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947672"/>
            <a:ext cx="3657600" cy="347472"/>
          </a:xfrm>
          <a:prstGeom prst="roundRect">
            <a:avLst/>
          </a:prstGeom>
          <a:solidFill>
            <a:srgbClr val="101C30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93C5FD"/>
                </a:solidFill>
                <a:latin typeface="Calibri"/>
              </a:rPr>
              <a:t>Conv2D Layers + BatchNorm + ReLU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2267712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2563EB"/>
                </a:solidFill>
                <a:latin typeface="Calibri"/>
              </a:rPr>
              <a:t>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478024"/>
            <a:ext cx="3657600" cy="347472"/>
          </a:xfrm>
          <a:prstGeom prst="roundRect">
            <a:avLst/>
          </a:prstGeom>
          <a:solidFill>
            <a:srgbClr val="101C30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93C5FD"/>
                </a:solidFill>
                <a:latin typeface="Calibri"/>
              </a:rPr>
              <a:t>Spatial Feature Maps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7440" y="2798064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2563EB"/>
                </a:solidFill>
                <a:latin typeface="Calibri"/>
              </a:rPr>
              <a:t>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008376"/>
            <a:ext cx="3657600" cy="347472"/>
          </a:xfrm>
          <a:prstGeom prst="roundRect">
            <a:avLst/>
          </a:prstGeom>
          <a:solidFill>
            <a:srgbClr val="140E1E"/>
          </a:solidFill>
          <a:ln w="12700">
            <a:solidFill>
              <a:srgbClr val="4A2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C4B5FD"/>
                </a:solidFill>
                <a:latin typeface="Calibri"/>
              </a:rPr>
              <a:t>Reshape → Sequential Format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7440" y="3328416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2563EB"/>
                </a:solidFill>
                <a:latin typeface="Calibri"/>
              </a:rPr>
              <a:t>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538728"/>
            <a:ext cx="3657600" cy="347472"/>
          </a:xfrm>
          <a:prstGeom prst="roundRect">
            <a:avLst/>
          </a:prstGeom>
          <a:solidFill>
            <a:srgbClr val="101C30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93C5FD"/>
                </a:solidFill>
                <a:latin typeface="Calibri"/>
              </a:rPr>
              <a:t>LSTM / Bidirectional LSTM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77440" y="3858768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2563EB"/>
                </a:solidFill>
                <a:latin typeface="Calibri"/>
              </a:rPr>
              <a:t>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069080"/>
            <a:ext cx="3657600" cy="347472"/>
          </a:xfrm>
          <a:prstGeom prst="roundRect">
            <a:avLst/>
          </a:prstGeom>
          <a:solidFill>
            <a:srgbClr val="152545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Attention Mechanism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7440" y="438912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2563EB"/>
                </a:solidFill>
                <a:latin typeface="Calibri"/>
              </a:rPr>
              <a:t>↓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599432"/>
            <a:ext cx="3657600" cy="347472"/>
          </a:xfrm>
          <a:prstGeom prst="roundRect">
            <a:avLst/>
          </a:prstGeom>
          <a:solidFill>
            <a:srgbClr val="101C30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93C5FD"/>
                </a:solidFill>
                <a:latin typeface="Calibri"/>
              </a:rPr>
              <a:t>Dense + Dropout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77440" y="4919472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2563EB"/>
                </a:solidFill>
                <a:latin typeface="Calibri"/>
              </a:rPr>
              <a:t>↓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129784"/>
            <a:ext cx="3657600" cy="347472"/>
          </a:xfrm>
          <a:prstGeom prst="roundRect">
            <a:avLst/>
          </a:prstGeom>
          <a:solidFill>
            <a:srgbClr val="1A0E0E"/>
          </a:solidFill>
          <a:ln w="12700">
            <a:solidFill>
              <a:srgbClr val="5C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CA5A5"/>
                </a:solidFill>
                <a:latin typeface="Calibri"/>
              </a:rPr>
              <a:t>Sigmoid → P(Heart Disease)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03520" y="1371600"/>
            <a:ext cx="5943600" cy="914400"/>
          </a:xfrm>
          <a:prstGeom prst="roundRect">
            <a:avLst/>
          </a:prstGeom>
          <a:solidFill>
            <a:srgbClr val="101828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93C5FD"/>
                </a:solidFill>
                <a:latin typeface="Calibri"/>
              </a:rPr>
              <a:t>📸  CNN (Conv2D)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C0CFE0"/>
                </a:solidFill>
                <a:latin typeface="Calibri"/>
              </a:rPr>
              <a:t>Planned for spatial/local pattern extraction from the GAF image representation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303520" y="2514600"/>
            <a:ext cx="5943600" cy="914400"/>
          </a:xfrm>
          <a:prstGeom prst="roundRect">
            <a:avLst/>
          </a:prstGeom>
          <a:solidFill>
            <a:srgbClr val="101828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C4B5FD"/>
                </a:solidFill>
                <a:latin typeface="Calibri"/>
              </a:rPr>
              <a:t>🔄  LSTM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C0CFE0"/>
                </a:solidFill>
                <a:latin typeface="Calibri"/>
              </a:rPr>
              <a:t>Planned to model relationships and dependencies within learned features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303520" y="3657600"/>
            <a:ext cx="5943600" cy="914400"/>
          </a:xfrm>
          <a:prstGeom prst="roundRect">
            <a:avLst/>
          </a:prstGeom>
          <a:solidFill>
            <a:srgbClr val="101828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5EEAD4"/>
                </a:solidFill>
                <a:latin typeface="Calibri"/>
              </a:rPr>
              <a:t>🎯  Attention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C0CFE0"/>
                </a:solidFill>
                <a:latin typeface="Calibri"/>
              </a:rPr>
              <a:t>Planned to emphasize important representations — outputs interpretable weights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303520" y="4800600"/>
            <a:ext cx="5943600" cy="914400"/>
          </a:xfrm>
          <a:prstGeom prst="roundRect">
            <a:avLst/>
          </a:prstGeom>
          <a:solidFill>
            <a:srgbClr val="101828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CA5A5"/>
                </a:solidFill>
                <a:latin typeface="Calibri"/>
              </a:rPr>
              <a:t>📤  Output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C0CFE0"/>
                </a:solidFill>
                <a:latin typeface="Calibri"/>
              </a:rPr>
              <a:t>Binary risk prediction — sigmoid activation producing P(Heart Disease) ∈ [0,1]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0" y="6035040"/>
            <a:ext cx="5943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7FA3"/>
                </a:solidFill>
                <a:latin typeface="Calibri"/>
              </a:rPr>
              <a:t>Hyperparameters will be determined during the experimentation phase.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411480"/>
            <a:ext cx="411480" cy="41148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32004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Multi-Technique XAI Framework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68680"/>
            <a:ext cx="10515600" cy="254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820095" y="640080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B7FA3"/>
                </a:solidFill>
                <a:latin typeface="Calibri"/>
              </a:rPr>
              <a:t>11 / 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51560"/>
            <a:ext cx="2468880" cy="292608"/>
          </a:xfrm>
          <a:prstGeom prst="roundRect">
            <a:avLst/>
          </a:prstGeom>
          <a:solidFill>
            <a:srgbClr val="2A1F05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BBF24"/>
                </a:solidFill>
                <a:latin typeface="Calibri"/>
              </a:rPr>
              <a:t>PROPOSED — NOT YET IMPLEMENTED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5303520" cy="1737360"/>
          </a:xfrm>
          <a:prstGeom prst="roundRect">
            <a:avLst/>
          </a:prstGeom>
          <a:solidFill>
            <a:srgbClr val="140E1E"/>
          </a:solidFill>
          <a:ln w="12700">
            <a:solidFill>
              <a:srgbClr val="4A2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C4B5FD"/>
                </a:solidFill>
                <a:latin typeface="Calibri"/>
              </a:rPr>
              <a:t>🎯  Attention Weights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C0CFE0"/>
                </a:solidFill>
                <a:latin typeface="Calibri"/>
              </a:rPr>
              <a:t>Will show which learned representations receive greater attention. Provides a model-internal perspective on feature importance.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endParaRPr sz="1200" b="0">
              <a:solidFill>
                <a:srgbClr val="C0CFE0"/>
              </a:solidFill>
              <a:latin typeface="Calibri"/>
            </a:endParaRP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C0CFE0"/>
                </a:solidFill>
                <a:latin typeface="Calibri"/>
              </a:rPr>
              <a:t>Intrinsic to architecture — no external computation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463040"/>
            <a:ext cx="5303520" cy="17373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93C5FD"/>
                </a:solidFill>
                <a:latin typeface="Calibri"/>
              </a:rPr>
              <a:t>🔥  Grad-CAM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C0CFE0"/>
                </a:solidFill>
                <a:latin typeface="Calibri"/>
              </a:rPr>
              <a:t>Will provide a visual heatmap of influential regions in the CNN feature maps. Uses gradients to identify activating spatial areas.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endParaRPr sz="1200" b="0">
              <a:solidFill>
                <a:srgbClr val="C0CFE0"/>
              </a:solidFill>
              <a:latin typeface="Calibri"/>
            </a:endParaRP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C0CFE0"/>
                </a:solidFill>
                <a:latin typeface="Calibri"/>
              </a:rPr>
              <a:t>Gradient-based — requires model internals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429000"/>
            <a:ext cx="5303520" cy="1737360"/>
          </a:xfrm>
          <a:prstGeom prst="roundRect">
            <a:avLst/>
          </a:prstGeom>
          <a:solidFill>
            <a:srgbClr val="0A1A18"/>
          </a:solidFill>
          <a:ln w="12700">
            <a:solidFill>
              <a:srgbClr val="145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5EEAD4"/>
                </a:solidFill>
                <a:latin typeface="Calibri"/>
              </a:rPr>
              <a:t>🧮  SHAP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C0CFE0"/>
                </a:solidFill>
                <a:latin typeface="Calibri"/>
              </a:rPr>
              <a:t>Will estimate each feature's marginal contribution toward an individual prediction using Shapley values from game theory.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endParaRPr sz="1200" b="0">
              <a:solidFill>
                <a:srgbClr val="C0CFE0"/>
              </a:solidFill>
              <a:latin typeface="Calibri"/>
            </a:endParaRP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C0CFE0"/>
                </a:solidFill>
                <a:latin typeface="Calibri"/>
              </a:rPr>
              <a:t>Model-agnostic — mathematically grounded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3429000"/>
            <a:ext cx="5303520" cy="1737360"/>
          </a:xfrm>
          <a:prstGeom prst="roundRect">
            <a:avLst/>
          </a:prstGeom>
          <a:solidFill>
            <a:srgbClr val="1A1505"/>
          </a:solidFill>
          <a:ln w="12700">
            <a:solidFill>
              <a:srgbClr val="5C4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BBF24"/>
                </a:solidFill>
                <a:latin typeface="Calibri"/>
              </a:rPr>
              <a:t>🔍  LIME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C0CFE0"/>
                </a:solidFill>
                <a:latin typeface="Calibri"/>
              </a:rPr>
              <a:t>Will provide a local interpretable approximation by fitting a simple model on perturbed neighborhood samples around a prediction.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endParaRPr sz="1200" b="0">
              <a:solidFill>
                <a:srgbClr val="C0CFE0"/>
              </a:solidFill>
              <a:latin typeface="Calibri"/>
            </a:endParaRP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C0CFE0"/>
                </a:solidFill>
                <a:latin typeface="Calibri"/>
              </a:rPr>
              <a:t>Model-agnostic — perturbation-based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5440680"/>
            <a:ext cx="10972800" cy="6858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93C5FD"/>
                </a:solidFill>
                <a:latin typeface="Calibri"/>
              </a:rPr>
              <a:t>One Prediction → Four Explanation Perspectives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C0CFE0"/>
                </a:solidFill>
                <a:latin typeface="Calibri"/>
              </a:rPr>
              <a:t>The project will investigate whether these methods provide complementary or consistent explanations.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411480"/>
            <a:ext cx="411480" cy="41148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32004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Software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68680"/>
            <a:ext cx="10515600" cy="254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820095" y="640080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B7FA3"/>
                </a:solidFill>
                <a:latin typeface="Calibri"/>
              </a:rPr>
              <a:t>12 / 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51560"/>
            <a:ext cx="2468880" cy="292608"/>
          </a:xfrm>
          <a:prstGeom prst="roundRect">
            <a:avLst/>
          </a:prstGeom>
          <a:solidFill>
            <a:srgbClr val="2A1F05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BBF24"/>
                </a:solidFill>
                <a:latin typeface="Calibri"/>
              </a:rPr>
              <a:t>PROPOSED — NOT YET IMPLEMENTED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4206240" cy="347472"/>
          </a:xfrm>
          <a:prstGeom prst="roundRect">
            <a:avLst/>
          </a:prstGeom>
          <a:solidFill>
            <a:srgbClr val="101C30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5EEAD4"/>
                </a:solidFill>
                <a:latin typeface="Calibri"/>
              </a:rPr>
              <a:t>👨‍⚕️  User / Doctor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51760" y="182880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2563EB"/>
                </a:solidFill>
                <a:latin typeface="Calibri"/>
              </a:rPr>
              <a:t>↓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075688"/>
            <a:ext cx="4206240" cy="347472"/>
          </a:xfrm>
          <a:prstGeom prst="roundRect">
            <a:avLst/>
          </a:prstGeom>
          <a:solidFill>
            <a:srgbClr val="101C30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93C5FD"/>
                </a:solidFill>
                <a:latin typeface="Calibri"/>
              </a:rPr>
              <a:t>🌐  Web Interface (HTML / JS / Plotly)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2395728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2563EB"/>
                </a:solidFill>
                <a:latin typeface="Calibri"/>
              </a:rPr>
              <a:t>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642616"/>
            <a:ext cx="4206240" cy="347472"/>
          </a:xfrm>
          <a:prstGeom prst="roundRect">
            <a:avLst/>
          </a:prstGeom>
          <a:solidFill>
            <a:srgbClr val="152545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⚡  Flask Application (API)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1760" y="2962656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2563EB"/>
                </a:solidFill>
                <a:latin typeface="Calibri"/>
              </a:rPr>
              <a:t>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209544"/>
            <a:ext cx="4206240" cy="347472"/>
          </a:xfrm>
          <a:prstGeom prst="roundRect">
            <a:avLst/>
          </a:prstGeom>
          <a:solidFill>
            <a:srgbClr val="101C30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93C5FD"/>
                </a:solidFill>
                <a:latin typeface="Calibri"/>
              </a:rPr>
              <a:t>🔮  Prediction Service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0" y="3529584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2563EB"/>
                </a:solidFill>
                <a:latin typeface="Calibri"/>
              </a:rPr>
              <a:t>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776472"/>
            <a:ext cx="4206240" cy="347472"/>
          </a:xfrm>
          <a:prstGeom prst="roundRect">
            <a:avLst/>
          </a:prstGeom>
          <a:solidFill>
            <a:srgbClr val="101C30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C4B5FD"/>
                </a:solidFill>
                <a:latin typeface="Calibri"/>
              </a:rPr>
              <a:t>🧠  CNN-LSTM-Attention Model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1760" y="4096512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2563EB"/>
                </a:solidFill>
                <a:latin typeface="Calibri"/>
              </a:rPr>
              <a:t>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343400"/>
            <a:ext cx="4206240" cy="347472"/>
          </a:xfrm>
          <a:prstGeom prst="roundRect">
            <a:avLst/>
          </a:prstGeom>
          <a:solidFill>
            <a:srgbClr val="101C30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C4B5FD"/>
                </a:solidFill>
                <a:latin typeface="Calibri"/>
              </a:rPr>
              <a:t>🔍  XAI Engine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51760" y="466344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2563EB"/>
                </a:solidFill>
                <a:latin typeface="Calibri"/>
              </a:rPr>
              <a:t>↓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910328"/>
            <a:ext cx="4206240" cy="347472"/>
          </a:xfrm>
          <a:prstGeom prst="roundRect">
            <a:avLst/>
          </a:prstGeom>
          <a:solidFill>
            <a:srgbClr val="101C30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BBF24"/>
                </a:solidFill>
                <a:latin typeface="Calibri"/>
              </a:rPr>
              <a:t>📊  Visualization  +  🗄️ MySQL DB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0" y="128016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7EB8FF"/>
                </a:solidFill>
                <a:latin typeface="Calibri"/>
              </a:rPr>
              <a:t>Planned Software Modules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0" y="169164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Calibri"/>
              </a:rPr>
              <a:t>  User Input Module  </a:t>
            </a:r>
            <a:r>
              <a:rPr sz="1100" b="0">
                <a:solidFill>
                  <a:srgbClr val="6B7FA3"/>
                </a:solidFill>
                <a:latin typeface="Calibri"/>
              </a:rPr>
              <a:t>—  Patient data entry form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0" y="219456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Calibri"/>
              </a:rPr>
              <a:t>  Preprocessing Module  </a:t>
            </a:r>
            <a:r>
              <a:rPr sz="1100" b="0">
                <a:solidFill>
                  <a:srgbClr val="6B7FA3"/>
                </a:solidFill>
                <a:latin typeface="Calibri"/>
              </a:rPr>
              <a:t>—  Cleaning, scaling, GAF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0" y="269748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Calibri"/>
              </a:rPr>
              <a:t>  Prediction Module  </a:t>
            </a:r>
            <a:r>
              <a:rPr sz="1100" b="0">
                <a:solidFill>
                  <a:srgbClr val="6B7FA3"/>
                </a:solidFill>
                <a:latin typeface="Calibri"/>
              </a:rPr>
              <a:t>—  CNN-LSTM-Attention inference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0" y="320040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Calibri"/>
              </a:rPr>
              <a:t>  XAI Module  </a:t>
            </a:r>
            <a:r>
              <a:rPr sz="1100" b="0">
                <a:solidFill>
                  <a:srgbClr val="6B7FA3"/>
                </a:solidFill>
                <a:latin typeface="Calibri"/>
              </a:rPr>
              <a:t>—  Attention, Grad-CAM, SHAP, LIME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0" y="370332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Calibri"/>
              </a:rPr>
              <a:t>  Visualization Module  </a:t>
            </a:r>
            <a:r>
              <a:rPr sz="1100" b="0">
                <a:solidFill>
                  <a:srgbClr val="6B7FA3"/>
                </a:solidFill>
                <a:latin typeface="Calibri"/>
              </a:rPr>
              <a:t>—  Plotly charts &amp; heatmaps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0" y="420624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Calibri"/>
              </a:rPr>
              <a:t>  Database Module  </a:t>
            </a:r>
            <a:r>
              <a:rPr sz="1100" b="0">
                <a:solidFill>
                  <a:srgbClr val="6B7FA3"/>
                </a:solidFill>
                <a:latin typeface="Calibri"/>
              </a:rPr>
              <a:t>—  Patient records (MySQL)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0" y="470916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Calibri"/>
              </a:rPr>
              <a:t>  Report Module  </a:t>
            </a:r>
            <a:r>
              <a:rPr sz="1100" b="0">
                <a:solidFill>
                  <a:srgbClr val="6B7FA3"/>
                </a:solidFill>
                <a:latin typeface="Calibri"/>
              </a:rPr>
              <a:t>—  PDF clinical report generation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0" y="53035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7EB8FF"/>
                </a:solidFill>
                <a:latin typeface="Calibri"/>
              </a:rPr>
              <a:t>Planned Technologies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0" y="566928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93C5FD"/>
                </a:solidFill>
                <a:latin typeface="Calibri"/>
              </a:rPr>
              <a:t>Python  •  TensorFlow/Keras  •  Flask  •  MySQL  •  SHAP  •  LIME  •  Plotly  •  Pandas  •  Scikit-learn  •  NumPy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411480"/>
            <a:ext cx="411480" cy="41148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32004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Development Methodology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68680"/>
            <a:ext cx="10515600" cy="254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820095" y="640080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B7FA3"/>
                </a:solidFill>
                <a:latin typeface="Calibri"/>
              </a:rPr>
              <a:t>13 / 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51560"/>
            <a:ext cx="2468880" cy="292608"/>
          </a:xfrm>
          <a:prstGeom prst="roundRect">
            <a:avLst/>
          </a:prstGeom>
          <a:solidFill>
            <a:srgbClr val="2A1F05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BBF24"/>
                </a:solidFill>
                <a:latin typeface="Calibri"/>
              </a:rPr>
              <a:t>PROPOSED — NOT YET IMPLEMENTED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457200" cy="45720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1417320"/>
            <a:ext cx="4937760" cy="960120"/>
          </a:xfrm>
          <a:prstGeom prst="roundRect">
            <a:avLst/>
          </a:prstGeom>
          <a:solidFill>
            <a:srgbClr val="101828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7EB8FF"/>
                </a:solidFill>
                <a:latin typeface="Calibri"/>
              </a:rPr>
              <a:t>Requirement Analysis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C0CFE0"/>
                </a:solidFill>
                <a:latin typeface="Calibri"/>
              </a:rPr>
              <a:t>Stakeholder needs, feature specification, feasibility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417320"/>
            <a:ext cx="457200" cy="45720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03720" y="1417320"/>
            <a:ext cx="4937760" cy="960120"/>
          </a:xfrm>
          <a:prstGeom prst="roundRect">
            <a:avLst/>
          </a:prstGeom>
          <a:solidFill>
            <a:srgbClr val="101828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7EB8FF"/>
                </a:solidFill>
                <a:latin typeface="Calibri"/>
              </a:rPr>
              <a:t>Dataset Collection &amp; Preprocessing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C0CFE0"/>
                </a:solidFill>
                <a:latin typeface="Calibri"/>
              </a:rPr>
              <a:t>Data cleaning, encoding, scaling, GAF, SMOTE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606040"/>
            <a:ext cx="457200" cy="457200"/>
          </a:xfrm>
          <a:prstGeom prst="roundRect">
            <a:avLst/>
          </a:prstGeom>
          <a:solidFill>
            <a:srgbClr val="8B5CF6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2606040"/>
            <a:ext cx="4937760" cy="960120"/>
          </a:xfrm>
          <a:prstGeom prst="roundRect">
            <a:avLst/>
          </a:prstGeom>
          <a:solidFill>
            <a:srgbClr val="101828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7EB8FF"/>
                </a:solidFill>
                <a:latin typeface="Calibri"/>
              </a:rPr>
              <a:t>Baseline Model Development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C0CFE0"/>
                </a:solidFill>
                <a:latin typeface="Calibri"/>
              </a:rPr>
              <a:t>CNN-only baseline for initial benchmarking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2606040"/>
            <a:ext cx="457200" cy="457200"/>
          </a:xfrm>
          <a:prstGeom prst="roundRect">
            <a:avLst/>
          </a:prstGeom>
          <a:solidFill>
            <a:srgbClr val="8B5CF6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03720" y="2606040"/>
            <a:ext cx="4937760" cy="960120"/>
          </a:xfrm>
          <a:prstGeom prst="roundRect">
            <a:avLst/>
          </a:prstGeom>
          <a:solidFill>
            <a:srgbClr val="101828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7EB8FF"/>
                </a:solidFill>
                <a:latin typeface="Calibri"/>
              </a:rPr>
              <a:t>CNN-LSTM-Attention Development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C0CFE0"/>
                </a:solidFill>
                <a:latin typeface="Calibri"/>
              </a:rPr>
              <a:t>Full proposed architecture implementation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794760"/>
            <a:ext cx="457200" cy="457200"/>
          </a:xfrm>
          <a:prstGeom prst="roundRect">
            <a:avLst/>
          </a:prstGeom>
          <a:solidFill>
            <a:srgbClr val="14B8A6"/>
          </a:solidFill>
          <a:ln w="127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3794760"/>
            <a:ext cx="4937760" cy="960120"/>
          </a:xfrm>
          <a:prstGeom prst="roundRect">
            <a:avLst/>
          </a:prstGeom>
          <a:solidFill>
            <a:srgbClr val="101828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7EB8FF"/>
                </a:solidFill>
                <a:latin typeface="Calibri"/>
              </a:rPr>
              <a:t>XAI Integration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C0CFE0"/>
                </a:solidFill>
                <a:latin typeface="Calibri"/>
              </a:rPr>
              <a:t>Attention, Grad-CAM, SHAP, LIME implementation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3794760"/>
            <a:ext cx="457200" cy="457200"/>
          </a:xfrm>
          <a:prstGeom prst="roundRect">
            <a:avLst/>
          </a:prstGeom>
          <a:solidFill>
            <a:srgbClr val="14B8A6"/>
          </a:solidFill>
          <a:ln w="127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03720" y="3794760"/>
            <a:ext cx="4937760" cy="960120"/>
          </a:xfrm>
          <a:prstGeom prst="roundRect">
            <a:avLst/>
          </a:prstGeom>
          <a:solidFill>
            <a:srgbClr val="101828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7EB8FF"/>
                </a:solidFill>
                <a:latin typeface="Calibri"/>
              </a:rPr>
              <a:t>Web Application Development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C0CFE0"/>
                </a:solidFill>
                <a:latin typeface="Calibri"/>
              </a:rPr>
              <a:t>Flask backend, dashboard UI, MySQL integration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983480"/>
            <a:ext cx="457200" cy="457200"/>
          </a:xfrm>
          <a:prstGeom prst="roundRect">
            <a:avLst/>
          </a:prstGeom>
          <a:solidFill>
            <a:srgbClr val="FBBF24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P7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983480"/>
            <a:ext cx="4937760" cy="960120"/>
          </a:xfrm>
          <a:prstGeom prst="roundRect">
            <a:avLst/>
          </a:prstGeom>
          <a:solidFill>
            <a:srgbClr val="101828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7EB8FF"/>
                </a:solidFill>
                <a:latin typeface="Calibri"/>
              </a:rPr>
              <a:t>Testing &amp; Evaluation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C0CFE0"/>
                </a:solidFill>
                <a:latin typeface="Calibri"/>
              </a:rPr>
              <a:t>Metrics, ablation study, XAI consistency analysis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4983480"/>
            <a:ext cx="457200" cy="457200"/>
          </a:xfrm>
          <a:prstGeom prst="roundRect">
            <a:avLst/>
          </a:prstGeom>
          <a:solidFill>
            <a:srgbClr val="FBBF24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P8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03720" y="4983480"/>
            <a:ext cx="4937760" cy="960120"/>
          </a:xfrm>
          <a:prstGeom prst="roundRect">
            <a:avLst/>
          </a:prstGeom>
          <a:solidFill>
            <a:srgbClr val="101828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7EB8FF"/>
                </a:solidFill>
                <a:latin typeface="Calibri"/>
              </a:rPr>
              <a:t>Documentation &amp; Final Deployment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C0CFE0"/>
                </a:solidFill>
                <a:latin typeface="Calibri"/>
              </a:rPr>
              <a:t>Report writing, PPT, demo preparation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411480"/>
            <a:ext cx="411480" cy="41148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32004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Testing &amp; Evaluation Plan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68680"/>
            <a:ext cx="10515600" cy="254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820095" y="640080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B7FA3"/>
                </a:solidFill>
                <a:latin typeface="Calibri"/>
              </a:rPr>
              <a:t>14 / 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51560"/>
            <a:ext cx="2468880" cy="292608"/>
          </a:xfrm>
          <a:prstGeom prst="roundRect">
            <a:avLst/>
          </a:prstGeom>
          <a:solidFill>
            <a:srgbClr val="2A1F05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BBF24"/>
                </a:solidFill>
                <a:latin typeface="Calibri"/>
              </a:rPr>
              <a:t>PROPOSED — NOT YET IMPLEMENTED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5303520" cy="2194560"/>
          </a:xfrm>
          <a:prstGeom prst="roundRect">
            <a:avLst/>
          </a:prstGeom>
          <a:solidFill>
            <a:srgbClr val="101828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93C5FD"/>
                </a:solidFill>
                <a:latin typeface="Calibri"/>
              </a:rPr>
              <a:t>📊  Model Evaluation Metrics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C0CFE0"/>
                </a:solidFill>
                <a:latin typeface="Calibri"/>
              </a:rPr>
              <a:t>Performance will be evaluated using: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C0CFE0"/>
                </a:solidFill>
                <a:latin typeface="Calibri"/>
              </a:rPr>
              <a:t>  • Accuracy — overall prediction correctness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C0CFE0"/>
                </a:solidFill>
                <a:latin typeface="Calibri"/>
              </a:rPr>
              <a:t>  • Precision — false positive control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C0CFE0"/>
                </a:solidFill>
                <a:latin typeface="Calibri"/>
              </a:rPr>
              <a:t>  • Recall — false negative control (critical in healthcare)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C0CFE0"/>
                </a:solidFill>
                <a:latin typeface="Calibri"/>
              </a:rPr>
              <a:t>  • F1-Score — precision-recall balance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C0CFE0"/>
                </a:solidFill>
                <a:latin typeface="Calibri"/>
              </a:rPr>
              <a:t>  • ROC-AUC — discrimination ability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C0CFE0"/>
                </a:solidFill>
                <a:latin typeface="Calibri"/>
              </a:rPr>
              <a:t>  • Confusion Matrix — detailed error breakdown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463040"/>
            <a:ext cx="5303520" cy="2194560"/>
          </a:xfrm>
          <a:prstGeom prst="roundRect">
            <a:avLst/>
          </a:prstGeom>
          <a:solidFill>
            <a:srgbClr val="0A1A18"/>
          </a:solidFill>
          <a:ln w="12700">
            <a:solidFill>
              <a:srgbClr val="145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5EEAD4"/>
                </a:solidFill>
                <a:latin typeface="Calibri"/>
              </a:rPr>
              <a:t>✅  Validation Strategy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C0CFE0"/>
                </a:solidFill>
                <a:latin typeface="Calibri"/>
              </a:rPr>
              <a:t>  • Hold-out testing (70/10/20 stratified split)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C0CFE0"/>
                </a:solidFill>
                <a:latin typeface="Calibri"/>
              </a:rPr>
              <a:t>  • Stratified K-Fold cross-validation for robustness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C0CFE0"/>
                </a:solidFill>
                <a:latin typeface="Calibri"/>
              </a:rPr>
              <a:t>  • Ablation study: CNN vs CNN-LSTM vs CNN-LSTM-Attention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C0CFE0"/>
                </a:solidFill>
                <a:latin typeface="Calibri"/>
              </a:rPr>
              <a:t>  • SMOTE applied inside each fold (no data leakage)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endParaRPr sz="1100" b="0">
              <a:solidFill>
                <a:srgbClr val="C0CFE0"/>
              </a:solidFill>
              <a:latin typeface="Calibri"/>
            </a:endParaRP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C0CFE0"/>
                </a:solidFill>
                <a:latin typeface="Calibri"/>
              </a:rPr>
              <a:t>The model will be compared against baseline variants.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931920"/>
            <a:ext cx="5303520" cy="2194560"/>
          </a:xfrm>
          <a:prstGeom prst="roundRect">
            <a:avLst/>
          </a:prstGeom>
          <a:solidFill>
            <a:srgbClr val="140E1E"/>
          </a:solidFill>
          <a:ln w="12700">
            <a:solidFill>
              <a:srgbClr val="4A2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C4B5FD"/>
                </a:solidFill>
                <a:latin typeface="Calibri"/>
              </a:rPr>
              <a:t>🔍  XAI Evaluation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C0CFE0"/>
                </a:solidFill>
                <a:latin typeface="Calibri"/>
              </a:rPr>
              <a:t>  • Feature ranking comparison across XAI methods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C0CFE0"/>
                </a:solidFill>
                <a:latin typeface="Calibri"/>
              </a:rPr>
              <a:t>  • Top-K feature overlap (Jaccard Similarity)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C0CFE0"/>
                </a:solidFill>
                <a:latin typeface="Calibri"/>
              </a:rPr>
              <a:t>  • Rank correlation (Spearman) between methods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C0CFE0"/>
                </a:solidFill>
                <a:latin typeface="Calibri"/>
              </a:rPr>
              <a:t>  • Consistency check — do methods agree?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C0CFE0"/>
                </a:solidFill>
                <a:latin typeface="Calibri"/>
              </a:rPr>
              <a:t>  • Comparison with established medical literature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3931920"/>
            <a:ext cx="5303520" cy="2194560"/>
          </a:xfrm>
          <a:prstGeom prst="roundRect">
            <a:avLst/>
          </a:prstGeom>
          <a:solidFill>
            <a:srgbClr val="1A1505"/>
          </a:solidFill>
          <a:ln w="12700">
            <a:solidFill>
              <a:srgbClr val="5C4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BBF24"/>
                </a:solidFill>
                <a:latin typeface="Calibri"/>
              </a:rPr>
              <a:t>🧪  Software Testing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C0CFE0"/>
                </a:solidFill>
                <a:latin typeface="Calibri"/>
              </a:rPr>
              <a:t>  • Unit testing — preprocessing, GAF, model functions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C0CFE0"/>
                </a:solidFill>
                <a:latin typeface="Calibri"/>
              </a:rPr>
              <a:t>  • Integration testing — end-to-end API pipeline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C0CFE0"/>
                </a:solidFill>
                <a:latin typeface="Calibri"/>
              </a:rPr>
              <a:t>  • Input validation — handling invalid/missing inputs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C0CFE0"/>
                </a:solidFill>
                <a:latin typeface="Calibri"/>
              </a:rPr>
              <a:t>  • Edge-case testing — out-of-distribution values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C0CFE0"/>
                </a:solidFill>
                <a:latin typeface="Calibri"/>
              </a:rPr>
              <a:t>  • UI testing — form validation, result display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411480"/>
            <a:ext cx="411480" cy="41148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32004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Expected Outcomes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68680"/>
            <a:ext cx="10515600" cy="254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820095" y="640080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B7FA3"/>
                </a:solidFill>
                <a:latin typeface="Calibri"/>
              </a:rPr>
              <a:t>15 / 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51560"/>
            <a:ext cx="2468880" cy="292608"/>
          </a:xfrm>
          <a:prstGeom prst="roundRect">
            <a:avLst/>
          </a:prstGeom>
          <a:solidFill>
            <a:srgbClr val="2A1F05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BBF24"/>
                </a:solidFill>
                <a:latin typeface="Calibri"/>
              </a:rPr>
              <a:t>PROPOSED — NOT YET IMPLEMENTED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3474720" cy="1463040"/>
          </a:xfrm>
          <a:prstGeom prst="roundRect">
            <a:avLst/>
          </a:prstGeom>
          <a:solidFill>
            <a:srgbClr val="101828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93C5FD"/>
                </a:solidFill>
                <a:latin typeface="Calibri"/>
              </a:rPr>
              <a:t>🧠  Prediction Model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C0CFE0"/>
                </a:solidFill>
                <a:latin typeface="Calibri"/>
              </a:rPr>
              <a:t>A trained CNN-LSTM-Attention model for heart disease risk prediction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79" y="1463040"/>
            <a:ext cx="3474720" cy="1463040"/>
          </a:xfrm>
          <a:prstGeom prst="roundRect">
            <a:avLst/>
          </a:prstGeom>
          <a:solidFill>
            <a:srgbClr val="101828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C4B5FD"/>
                </a:solidFill>
                <a:latin typeface="Calibri"/>
              </a:rPr>
              <a:t>🔲  GAF Pipeline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C0CFE0"/>
                </a:solidFill>
                <a:latin typeface="Calibri"/>
              </a:rPr>
              <a:t>Preprocessing pipeline converting tabular data to 2D representations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18" y="1463040"/>
            <a:ext cx="3474720" cy="1463040"/>
          </a:xfrm>
          <a:prstGeom prst="roundRect">
            <a:avLst/>
          </a:prstGeom>
          <a:solidFill>
            <a:srgbClr val="101828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5EEAD4"/>
                </a:solidFill>
                <a:latin typeface="Calibri"/>
              </a:rPr>
              <a:t>🔍  XAI Module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C0CFE0"/>
                </a:solidFill>
                <a:latin typeface="Calibri"/>
              </a:rPr>
              <a:t>Multi-technique explainability: Attention, Grad-CAM, SHAP &amp; LIME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154680"/>
            <a:ext cx="3474720" cy="1463040"/>
          </a:xfrm>
          <a:prstGeom prst="roundRect">
            <a:avLst/>
          </a:prstGeom>
          <a:solidFill>
            <a:srgbClr val="101828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BBF24"/>
                </a:solidFill>
                <a:latin typeface="Calibri"/>
              </a:rPr>
              <a:t>📊  Dashboard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C0CFE0"/>
                </a:solidFill>
                <a:latin typeface="Calibri"/>
              </a:rPr>
              <a:t>Interactive web visualization for predictions and explanations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79" y="3154680"/>
            <a:ext cx="3474720" cy="1463040"/>
          </a:xfrm>
          <a:prstGeom prst="roundRect">
            <a:avLst/>
          </a:prstGeom>
          <a:solidFill>
            <a:srgbClr val="101828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93C5FD"/>
                </a:solidFill>
                <a:latin typeface="Calibri"/>
              </a:rPr>
              <a:t>🌐  Flask Application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C0CFE0"/>
                </a:solidFill>
                <a:latin typeface="Calibri"/>
              </a:rPr>
              <a:t>Modular Flask-based software system with MySQL backend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18" y="3154680"/>
            <a:ext cx="3474720" cy="1463040"/>
          </a:xfrm>
          <a:prstGeom prst="roundRect">
            <a:avLst/>
          </a:prstGeom>
          <a:solidFill>
            <a:srgbClr val="101828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CA5A5"/>
                </a:solidFill>
                <a:latin typeface="Calibri"/>
              </a:rPr>
              <a:t>📋  Evaluation Report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C0CFE0"/>
                </a:solidFill>
                <a:latin typeface="Calibri"/>
              </a:rPr>
              <a:t>Model comparison, ablation study, XAI consistency analysis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029200"/>
            <a:ext cx="10972800" cy="10972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93C5FD"/>
                </a:solidFill>
                <a:latin typeface="Calibri"/>
              </a:rPr>
              <a:t>Expected System Output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Patient Input  →  Risk Prediction  →  Feature Importance  →  Visual Explanation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6B7FA3"/>
                </a:solidFill>
                <a:latin typeface="Calibri"/>
              </a:rPr>
              <a:t>No numerical performance claims — results will be evaluated during development.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411480"/>
            <a:ext cx="411480" cy="41148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32004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Future Scope &amp; Current Limitations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68680"/>
            <a:ext cx="10515600" cy="254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820095" y="640080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B7FA3"/>
                </a:solidFill>
                <a:latin typeface="Calibri"/>
              </a:rPr>
              <a:t>16 /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7EB8FF"/>
                </a:solidFill>
                <a:latin typeface="Calibri"/>
              </a:rPr>
              <a:t>🚀  Future Scope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5303520" cy="530352"/>
          </a:xfrm>
          <a:prstGeom prst="roundRect">
            <a:avLst/>
          </a:prstGeom>
          <a:solidFill>
            <a:srgbClr val="101828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C0CFE0"/>
                </a:solidFill>
                <a:latin typeface="Calibri"/>
              </a:rPr>
              <a:t>📂  Larger &amp; diverse datasets (Framingham, MIMIC-III)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94560"/>
            <a:ext cx="5303520" cy="530352"/>
          </a:xfrm>
          <a:prstGeom prst="roundRect">
            <a:avLst/>
          </a:prstGeom>
          <a:solidFill>
            <a:srgbClr val="101828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C0CFE0"/>
                </a:solidFill>
                <a:latin typeface="Calibri"/>
              </a:rPr>
              <a:t>🌍  External dataset validation for generalization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834640"/>
            <a:ext cx="5303520" cy="530352"/>
          </a:xfrm>
          <a:prstGeom prst="roundRect">
            <a:avLst/>
          </a:prstGeom>
          <a:solidFill>
            <a:srgbClr val="101828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C0CFE0"/>
                </a:solidFill>
                <a:latin typeface="Calibri"/>
              </a:rPr>
              <a:t>🔬  Additional XAI methods (Integrated Gradients, Counterfactuals)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474720"/>
            <a:ext cx="5303520" cy="530352"/>
          </a:xfrm>
          <a:prstGeom prst="roundRect">
            <a:avLst/>
          </a:prstGeom>
          <a:solidFill>
            <a:srgbClr val="101828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C0CFE0"/>
                </a:solidFill>
                <a:latin typeface="Calibri"/>
              </a:rPr>
              <a:t>🤖  Advanced architectures (Vision Transformers)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114800"/>
            <a:ext cx="5303520" cy="530352"/>
          </a:xfrm>
          <a:prstGeom prst="roundRect">
            <a:avLst/>
          </a:prstGeom>
          <a:solidFill>
            <a:srgbClr val="101828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C0CFE0"/>
                </a:solidFill>
                <a:latin typeface="Calibri"/>
              </a:rPr>
              <a:t>📱  Mobile deployment for clinical use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754880"/>
            <a:ext cx="5303520" cy="530352"/>
          </a:xfrm>
          <a:prstGeom prst="roundRect">
            <a:avLst/>
          </a:prstGeom>
          <a:solidFill>
            <a:srgbClr val="101828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C0CFE0"/>
                </a:solidFill>
                <a:latin typeface="Calibri"/>
              </a:rPr>
              <a:t>📈  Longitudinal patient risk progression tracking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394960"/>
            <a:ext cx="5303520" cy="530352"/>
          </a:xfrm>
          <a:prstGeom prst="roundRect">
            <a:avLst/>
          </a:prstGeom>
          <a:solidFill>
            <a:srgbClr val="101828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C0CFE0"/>
                </a:solidFill>
                <a:latin typeface="Calibri"/>
              </a:rPr>
              <a:t>🔒  Privacy-preserving federated learning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109728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BBF24"/>
                </a:solidFill>
                <a:latin typeface="Calibri"/>
              </a:rPr>
              <a:t>⚠️  Current Scope &amp; Limitations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554480"/>
            <a:ext cx="5303520" cy="960120"/>
          </a:xfrm>
          <a:prstGeom prst="roundRect">
            <a:avLst/>
          </a:prstGeom>
          <a:solidFill>
            <a:srgbClr val="1A1505"/>
          </a:solidFill>
          <a:ln w="12700">
            <a:solidFill>
              <a:srgbClr val="5C4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BBF24"/>
                </a:solidFill>
                <a:latin typeface="Calibri"/>
              </a:rPr>
              <a:t>Dataset Size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C0CFE0"/>
                </a:solidFill>
                <a:latin typeface="Calibri"/>
              </a:rPr>
              <a:t>Initial development uses a public dataset (~303 records). Size may limit generalization.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697480"/>
            <a:ext cx="5303520" cy="960120"/>
          </a:xfrm>
          <a:prstGeom prst="roundRect">
            <a:avLst/>
          </a:prstGeom>
          <a:solidFill>
            <a:srgbClr val="1A1505"/>
          </a:solidFill>
          <a:ln w="12700">
            <a:solidFill>
              <a:srgbClr val="5C4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BBF24"/>
                </a:solidFill>
                <a:latin typeface="Calibri"/>
              </a:rPr>
              <a:t>XAI Interpretation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C0CFE0"/>
                </a:solidFill>
                <a:latin typeface="Calibri"/>
              </a:rPr>
              <a:t>Feature importance does not always imply direct causation. Explanations require careful clinical interpretation.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840480"/>
            <a:ext cx="5303520" cy="960120"/>
          </a:xfrm>
          <a:prstGeom prst="roundRect">
            <a:avLst/>
          </a:prstGeom>
          <a:solidFill>
            <a:srgbClr val="1A0E0E"/>
          </a:solidFill>
          <a:ln w="12700">
            <a:solidFill>
              <a:srgbClr val="5C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CA5A5"/>
                </a:solidFill>
                <a:latin typeface="Calibri"/>
              </a:rPr>
              <a:t>Not a Medical Device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C0CFE0"/>
                </a:solidFill>
                <a:latin typeface="Calibri"/>
              </a:rPr>
              <a:t>The system is a research/educational prototype, NOT an autonomous diagnosis tool. Clinical validation required for real deployment.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4983480"/>
            <a:ext cx="5303520" cy="960120"/>
          </a:xfrm>
          <a:prstGeom prst="roundRect">
            <a:avLst/>
          </a:prstGeom>
          <a:solidFill>
            <a:srgbClr val="1A1505"/>
          </a:solidFill>
          <a:ln w="12700">
            <a:solidFill>
              <a:srgbClr val="5C4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BBF24"/>
                </a:solidFill>
                <a:latin typeface="Calibri"/>
              </a:rPr>
              <a:t>Single Dataset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C0CFE0"/>
                </a:solidFill>
                <a:latin typeface="Calibri"/>
              </a:rPr>
              <a:t>Conclusions will be specific to Cleveland dataset. Multi-dataset validation is planned as future work.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820095" y="640080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B7FA3"/>
                </a:solidFill>
                <a:latin typeface="Calibri"/>
              </a:rPr>
              <a:t>17 / 17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0" y="1097280"/>
            <a:ext cx="155448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0" y="1371600"/>
            <a:ext cx="8503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7EB8FF"/>
                </a:solidFill>
                <a:latin typeface="Calibri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82880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>
                <a:solidFill>
                  <a:srgbClr val="C0CFE0"/>
                </a:solidFill>
                <a:latin typeface="Calibri"/>
              </a:rPr>
              <a:t>The proposed project aims to develop an explainable heart disease prediction system combining: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0907" y="3017520"/>
            <a:ext cx="1554480" cy="347472"/>
          </a:xfrm>
          <a:prstGeom prst="roundRect">
            <a:avLst/>
          </a:prstGeom>
          <a:solidFill>
            <a:srgbClr val="101C30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93C5FD"/>
                </a:solidFill>
                <a:latin typeface="Calibri"/>
              </a:rPr>
              <a:t>Deep Learning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43987" y="3017520"/>
            <a:ext cx="1554480" cy="347472"/>
          </a:xfrm>
          <a:prstGeom prst="roundRect">
            <a:avLst/>
          </a:prstGeom>
          <a:solidFill>
            <a:srgbClr val="140E1E"/>
          </a:solidFill>
          <a:ln w="12700">
            <a:solidFill>
              <a:srgbClr val="4A2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C4B5FD"/>
                </a:solidFill>
                <a:latin typeface="Calibri"/>
              </a:rPr>
              <a:t>GAF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7067" y="3017520"/>
            <a:ext cx="1554480" cy="347472"/>
          </a:xfrm>
          <a:prstGeom prst="roundRect">
            <a:avLst/>
          </a:prstGeom>
          <a:solidFill>
            <a:srgbClr val="0A1A18"/>
          </a:solidFill>
          <a:ln w="12700">
            <a:solidFill>
              <a:srgbClr val="145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5EEAD4"/>
                </a:solidFill>
                <a:latin typeface="Calibri"/>
              </a:rPr>
              <a:t>Attention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0147" y="3017520"/>
            <a:ext cx="1554480" cy="347472"/>
          </a:xfrm>
          <a:prstGeom prst="roundRect">
            <a:avLst/>
          </a:prstGeom>
          <a:solidFill>
            <a:srgbClr val="101C30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93C5FD"/>
                </a:solidFill>
                <a:latin typeface="Calibri"/>
              </a:rPr>
              <a:t>Grad-CAM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93227" y="3017520"/>
            <a:ext cx="1554480" cy="347472"/>
          </a:xfrm>
          <a:prstGeom prst="roundRect">
            <a:avLst/>
          </a:prstGeom>
          <a:solidFill>
            <a:srgbClr val="1A1505"/>
          </a:solidFill>
          <a:ln w="12700">
            <a:solidFill>
              <a:srgbClr val="5C4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BBF24"/>
                </a:solidFill>
                <a:latin typeface="Calibri"/>
              </a:rPr>
              <a:t>SHAP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776307" y="3017520"/>
            <a:ext cx="1554480" cy="347472"/>
          </a:xfrm>
          <a:prstGeom prst="roundRect">
            <a:avLst/>
          </a:prstGeom>
          <a:solidFill>
            <a:srgbClr val="1A0E0E"/>
          </a:solidFill>
          <a:ln w="12700">
            <a:solidFill>
              <a:srgbClr val="5C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CA5A5"/>
                </a:solidFill>
                <a:latin typeface="Calibri"/>
              </a:rPr>
              <a:t>LIME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15387" y="3017520"/>
            <a:ext cx="228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2563EB"/>
                </a:solidFill>
                <a:latin typeface="Calibri"/>
              </a:rPr>
              <a:t>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98467" y="3017520"/>
            <a:ext cx="228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2563EB"/>
                </a:solidFill>
                <a:latin typeface="Calibri"/>
              </a:rPr>
              <a:t>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81547" y="3017520"/>
            <a:ext cx="228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2563EB"/>
                </a:solidFill>
                <a:latin typeface="Calibri"/>
              </a:rPr>
              <a:t>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64627" y="3017520"/>
            <a:ext cx="228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2563EB"/>
                </a:solidFill>
                <a:latin typeface="Calibri"/>
              </a:rPr>
              <a:t>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47707" y="3017520"/>
            <a:ext cx="228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2563EB"/>
                </a:solidFill>
                <a:latin typeface="Calibri"/>
              </a:rPr>
              <a:t>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749039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6B7FA3"/>
                </a:solidFill>
                <a:latin typeface="Calibri"/>
              </a:rPr>
              <a:t>The goal is to investigate whether combining prediction with multiple explanation techniques
can make AI outputs more transparent and understandable.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0" y="4572000"/>
            <a:ext cx="3931920" cy="254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828800" y="4846320"/>
            <a:ext cx="8503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5669280"/>
            <a:ext cx="8503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>
                <a:solidFill>
                  <a:srgbClr val="93C5FD"/>
                </a:solidFill>
                <a:latin typeface="Calibri"/>
              </a:rPr>
              <a:t>Questions &amp; Suggestions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2167</Words>
  <Application>Microsoft Macintosh PowerPoint</Application>
  <PresentationFormat>Widescreen</PresentationFormat>
  <Paragraphs>391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Dhruv Singla</cp:lastModifiedBy>
  <cp:revision>2</cp:revision>
  <dcterms:created xsi:type="dcterms:W3CDTF">2013-01-27T09:14:16Z</dcterms:created>
  <dcterms:modified xsi:type="dcterms:W3CDTF">2026-08-13T14:32:28Z</dcterms:modified>
  <cp:category/>
</cp:coreProperties>
</file>